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0"/>
  </p:notesMasterIdLst>
  <p:sldIdLst>
    <p:sldId id="256" r:id="rId2"/>
    <p:sldId id="304" r:id="rId8"/>
    <p:sldId id="305" r:id="rId7"/>
    <p:sldId id="306" r:id="rId6"/>
    <p:sldId id="307" r:id="rId5"/>
    <p:sldId id="308" r:id="rId4"/>
    <p:sldId id="309" r:id="rId3"/>
    <p:sldId id="310" r:id="rId16"/>
    <p:sldId id="311" r:id="rId17"/>
    <p:sldId id="312" r:id="rId18"/>
    <p:sldId id="3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00.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901.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c:v>
                </c:pt>
              </c:strCache>
            </c:strRef>
          </c:tx>
          <c:dPt>
            <c:idx val="0"/>
            <c:spPr>
              <a:solidFill>
                <a:srgbClr val="F59E0B"/>
              </a:solidFill>
            </c:spPr>
          </c:dPt>
          <c:dPt>
            <c:idx val="1"/>
            <c:spPr>
              <a:solidFill>
                <a:srgbClr val="22D3EE"/>
              </a:solidFill>
            </c:spPr>
          </c:dPt>
          <c:dPt>
            <c:idx val="2"/>
            <c:spPr>
              <a:solidFill>
                <a:srgbClr val="3B82F6"/>
              </a:solidFill>
            </c:spPr>
          </c:dPt>
          <c:cat>
            <c:strRef>
              <c:f>Sheet1!$A$2:$A$4</c:f>
              <c:strCache>
                <c:ptCount val="3"/>
                <c:pt idx="0">
                  <c:v>Flop</c:v>
                </c:pt>
                <c:pt idx="1">
                  <c:v>Average</c:v>
                </c:pt>
                <c:pt idx="2">
                  <c:v>Hit</c:v>
                </c:pt>
              </c:strCache>
            </c:strRef>
          </c:cat>
          <c:val>
            <c:numRef>
              <c:f>Sheet1!$B$2:$B$4</c:f>
              <c:numCache>
                <c:formatCode>General</c:formatCode>
                <c:ptCount val="3"/>
                <c:pt idx="0">
                  <c:v>41</c:v>
                </c:pt>
                <c:pt idx="1">
                  <c:v>1383</c:v>
                </c:pt>
                <c:pt idx="2">
                  <c:v>3495</c:v>
                </c:pt>
              </c:numCache>
            </c:numRef>
          </c:val>
        </c:ser>
        <c:dLbls>
          <c:numFmt formatCode="#,##0" sourceLinked="0"/>
          <c:txPr>
            <a:bodyPr/>
            <a:lstStyle/>
            <a:p>
              <a:pPr>
                <a:defRPr sz="1300" b="1">
                  <a:solidFill>
                    <a:srgbClr val="161A3E"/>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300"/>
            </a:pPr>
          </a:p>
        </c:txPr>
        <c:crossAx val="-2113994440"/>
        <c:crosses val="autoZero"/>
        <c:auto val="1"/>
        <c:lblAlgn val="ctr"/>
        <c:lblOffset val="100"/>
        <c:noMultiLvlLbl val="0"/>
      </c:catAx>
      <c:valAx>
        <c:axId val="-2113994440"/>
        <c:scaling>
          <c:max val="4200.0"/>
          <c:min val="0.0"/>
        </c:scaling>
        <c:delete/>
        <c:axPos val="l"/>
        <c:majorTickMark val="out"/>
        <c:minorTickMark val="none"/>
        <c:tickLblPos val="nextTo"/>
        <c:crossAx val="-2068027336"/>
        <c:crosses val="autoZero"/>
      </c:valAx>
    </c:plotArea>
    <c:dispBlanksAs val="gap"/>
  </c:chart>
  <c:txPr>
    <a:bodyPr/>
    <a:lstStyle/>
    <a:p>
      <a:pPr>
        <a:defRPr sz="1300">
          <a:solidFill>
            <a:srgbClr val="161A3E"/>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F59E0B"/>
              </a:solidFill>
              <a:ln>
                <a:solidFill>
                  <a:srgbClr val="FFFFFF"/>
                </a:solidFill>
              </a:ln>
            </c:spPr>
          </c:dPt>
          <c:dPt>
            <c:idx val="1"/>
            <c:spPr>
              <a:solidFill>
                <a:srgbClr val="22D3EE"/>
              </a:solidFill>
              <a:ln>
                <a:solidFill>
                  <a:srgbClr val="FFFFFF"/>
                </a:solidFill>
              </a:ln>
            </c:spPr>
          </c:dPt>
          <c:dPt>
            <c:idx val="2"/>
            <c:spPr>
              <a:solidFill>
                <a:srgbClr val="3B82F6"/>
              </a:solidFill>
              <a:ln>
                <a:solidFill>
                  <a:srgbClr val="FFFFFF"/>
                </a:solidFill>
              </a:ln>
            </c:spPr>
          </c:dPt>
          <c:cat>
            <c:strRef>
              <c:f>Sheet1!$A$2:$A$4</c:f>
              <c:strCache>
                <c:ptCount val="3"/>
                <c:pt idx="0">
                  <c:v>Flop</c:v>
                </c:pt>
                <c:pt idx="1">
                  <c:v>Average</c:v>
                </c:pt>
                <c:pt idx="2">
                  <c:v>Hit</c:v>
                </c:pt>
              </c:strCache>
            </c:strRef>
          </c:cat>
          <c:val>
            <c:numRef>
              <c:f>Sheet1!$B$2:$B$4</c:f>
              <c:numCache>
                <c:formatCode>General</c:formatCode>
                <c:ptCount val="3"/>
                <c:pt idx="0">
                  <c:v>41</c:v>
                </c:pt>
                <c:pt idx="1">
                  <c:v>1383</c:v>
                </c:pt>
                <c:pt idx="2">
                  <c:v>3495</c:v>
                </c:pt>
              </c:numCache>
            </c:numRef>
          </c:val>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200">
          <a:solidFill>
            <a:srgbClr val="161A3E"/>
          </a:solidFill>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c:v>
                </c:pt>
              </c:strCache>
            </c:strRef>
          </c:tx>
          <c:dPt>
            <c:idx val="0"/>
            <c:spPr>
              <a:solidFill>
                <a:srgbClr val="3B82F6"/>
              </a:solidFill>
            </c:spPr>
          </c:dPt>
          <c:dPt>
            <c:idx val="1"/>
            <c:spPr>
              <a:solidFill>
                <a:srgbClr val="3B82F6"/>
              </a:solidFill>
            </c:spPr>
          </c:dPt>
          <c:dPt>
            <c:idx val="2"/>
            <c:spPr>
              <a:solidFill>
                <a:srgbClr val="3B82F6"/>
              </a:solidFill>
            </c:spPr>
          </c:dPt>
          <c:dPt>
            <c:idx val="3"/>
            <c:spPr>
              <a:solidFill>
                <a:srgbClr val="3B82F6"/>
              </a:solidFill>
            </c:spPr>
          </c:dPt>
          <c:dPt>
            <c:idx val="4"/>
            <c:spPr>
              <a:solidFill>
                <a:srgbClr val="3B82F6"/>
              </a:solidFill>
            </c:spPr>
          </c:dPt>
          <c:dPt>
            <c:idx val="5"/>
            <c:spPr>
              <a:solidFill>
                <a:srgbClr val="3B82F6"/>
              </a:solidFill>
            </c:spPr>
          </c:dPt>
          <c:dPt>
            <c:idx val="6"/>
            <c:spPr>
              <a:solidFill>
                <a:srgbClr val="3B82F6"/>
              </a:solidFill>
            </c:spPr>
          </c:dPt>
          <c:cat>
            <c:strRef>
              <c:f>Sheet1!$A$2:$A$8</c:f>
              <c:strCache>
                <c:ptCount val="7"/>
                <c:pt idx="0">
                  <c:v>&lt;1960</c:v>
                </c:pt>
                <c:pt idx="1">
                  <c:v>1960s</c:v>
                </c:pt>
                <c:pt idx="2">
                  <c:v>1970s</c:v>
                </c:pt>
                <c:pt idx="3">
                  <c:v>1980s</c:v>
                </c:pt>
                <c:pt idx="4">
                  <c:v>1990s</c:v>
                </c:pt>
                <c:pt idx="5">
                  <c:v>2000s</c:v>
                </c:pt>
                <c:pt idx="6">
                  <c:v>2010s</c:v>
                </c:pt>
              </c:strCache>
            </c:strRef>
          </c:cat>
          <c:val>
            <c:numRef>
              <c:f>Sheet1!$B$2:$B$8</c:f>
              <c:numCache>
                <c:formatCode>General</c:formatCode>
                <c:ptCount val="7"/>
                <c:pt idx="0">
                  <c:v>73</c:v>
                </c:pt>
                <c:pt idx="1">
                  <c:v>71</c:v>
                </c:pt>
                <c:pt idx="2">
                  <c:v>109</c:v>
                </c:pt>
                <c:pt idx="3">
                  <c:v>277</c:v>
                </c:pt>
                <c:pt idx="4">
                  <c:v>780</c:v>
                </c:pt>
                <c:pt idx="5">
                  <c:v>2057</c:v>
                </c:pt>
                <c:pt idx="6">
                  <c:v>1446</c:v>
                </c:pt>
              </c:numCache>
            </c:numRef>
          </c:val>
        </c:ser>
        <c:dLbls>
          <c:numFmt formatCode="#,##0" sourceLinked="0"/>
          <c:txPr>
            <a:bodyPr/>
            <a:lstStyle/>
            <a:p>
              <a:pPr>
                <a:defRPr sz="1100" b="1">
                  <a:solidFill>
                    <a:srgbClr val="161A3E"/>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100"/>
            </a:pPr>
          </a:p>
        </c:txPr>
        <c:crossAx val="-2113994440"/>
        <c:crosses val="autoZero"/>
        <c:auto val="1"/>
        <c:lblAlgn val="ctr"/>
        <c:lblOffset val="100"/>
        <c:noMultiLvlLbl val="0"/>
      </c:catAx>
      <c:valAx>
        <c:axId val="-2113994440"/>
        <c:scaling>
          <c:max val="2500.0"/>
          <c:min val="0.0"/>
        </c:scaling>
        <c:delete/>
        <c:axPos val="l"/>
        <c:majorTickMark val="out"/>
        <c:minorTickMark val="none"/>
        <c:tickLblPos val="nextTo"/>
        <c:crossAx val="-2068027336"/>
        <c:crosses val="autoZero"/>
      </c:valAx>
    </c:plotArea>
    <c:dispBlanksAs val="gap"/>
  </c:chart>
  <c:txPr>
    <a:bodyPr/>
    <a:lstStyle/>
    <a:p>
      <a:pPr>
        <a:defRPr sz="1100">
          <a:solidFill>
            <a:srgbClr val="161A3E"/>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dPt>
            <c:idx val="0"/>
            <c:spPr>
              <a:solidFill>
                <a:srgbClr val="F59E0B"/>
              </a:solidFill>
            </c:spPr>
          </c:dPt>
          <c:dPt>
            <c:idx val="1"/>
            <c:spPr>
              <a:solidFill>
                <a:srgbClr val="F59E0B"/>
              </a:solidFill>
            </c:spPr>
          </c:dPt>
          <c:dPt>
            <c:idx val="2"/>
            <c:spPr>
              <a:solidFill>
                <a:srgbClr val="F59E0B"/>
              </a:solidFill>
            </c:spPr>
          </c:dPt>
          <c:dPt>
            <c:idx val="3"/>
            <c:spPr>
              <a:solidFill>
                <a:srgbClr val="CBD5E1"/>
              </a:solidFill>
            </c:spPr>
          </c:dPt>
          <c:dPt>
            <c:idx val="4"/>
            <c:spPr>
              <a:solidFill>
                <a:srgbClr val="CBD5E1"/>
              </a:solidFill>
            </c:spPr>
          </c:dPt>
          <c:dPt>
            <c:idx val="5"/>
            <c:spPr>
              <a:solidFill>
                <a:srgbClr val="CBD5E1"/>
              </a:solidFill>
            </c:spPr>
          </c:dPt>
          <c:cat>
            <c:strRef>
              <c:f>Sheet1!$A$2:$A$7</c:f>
              <c:strCache>
                <c:ptCount val="6"/>
                <c:pt idx="0">
                  <c:v>Budget</c:v>
                </c:pt>
                <c:pt idx="1">
                  <c:v>Aspect ratio</c:v>
                </c:pt>
                <c:pt idx="2">
                  <c:v>Content rating</c:v>
                </c:pt>
                <c:pt idx="3">
                  <c:v>Release year</c:v>
                </c:pt>
                <c:pt idx="4">
                  <c:v>Colour</c:v>
                </c:pt>
                <c:pt idx="5">
                  <c:v>Duration</c:v>
                </c:pt>
              </c:strCache>
            </c:strRef>
          </c:cat>
          <c:val>
            <c:numRef>
              <c:f>Sheet1!$B$2:$B$7</c:f>
              <c:numCache>
                <c:formatCode>General</c:formatCode>
                <c:ptCount val="6"/>
                <c:pt idx="0">
                  <c:v>9.9</c:v>
                </c:pt>
                <c:pt idx="1">
                  <c:v>6.6</c:v>
                </c:pt>
                <c:pt idx="2">
                  <c:v>6.1</c:v>
                </c:pt>
                <c:pt idx="3">
                  <c:v>2.2</c:v>
                </c:pt>
                <c:pt idx="4">
                  <c:v>0.4</c:v>
                </c:pt>
                <c:pt idx="5">
                  <c:v>0.3</c:v>
                </c:pt>
              </c:numCache>
            </c:numRef>
          </c:val>
        </c:ser>
        <c:dLbls>
          <c:numFmt formatCode="0.0" sourceLinked="0"/>
          <c:txPr>
            <a:bodyPr/>
            <a:lstStyle/>
            <a:p>
              <a:pPr>
                <a:defRPr sz="1100" b="1">
                  <a:solidFill>
                    <a:srgbClr val="161A3E"/>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CBD5E1"/>
            </a:solidFill>
          </a:ln>
        </c:spPr>
        <c:txPr>
          <a:bodyPr/>
          <a:lstStyle/>
          <a:p>
            <a:pPr>
              <a:defRPr sz="1100"/>
            </a:pPr>
          </a:p>
        </c:txPr>
        <c:crossAx val="-2113994440"/>
        <c:crosses val="autoZero"/>
        <c:auto val="1"/>
        <c:lblAlgn val="ctr"/>
        <c:lblOffset val="100"/>
        <c:noMultiLvlLbl val="0"/>
      </c:catAx>
      <c:valAx>
        <c:axId val="-2113994440"/>
        <c:scaling>
          <c:max val="13.0"/>
          <c:min val="0.0"/>
        </c:scaling>
        <c:delete/>
        <c:axPos val="b"/>
        <c:majorTickMark val="out"/>
        <c:minorTickMark val="none"/>
        <c:tickLblPos val="nextTo"/>
        <c:crossAx val="-2068027336"/>
        <c:crosses val="autoZero"/>
      </c:valAx>
    </c:plotArea>
    <c:dispBlanksAs val="gap"/>
  </c:chart>
  <c:txPr>
    <a:bodyPr/>
    <a:lstStyle/>
    <a:p>
      <a:pPr>
        <a:defRPr sz="1100">
          <a:solidFill>
            <a:srgbClr val="161A3E"/>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dPt>
            <c:idx val="0"/>
            <c:spPr>
              <a:solidFill>
                <a:srgbClr val="22D3EE"/>
              </a:solidFill>
            </c:spPr>
          </c:dPt>
          <c:dPt>
            <c:idx val="1"/>
            <c:spPr>
              <a:solidFill>
                <a:srgbClr val="CBD5E1"/>
              </a:solidFill>
            </c:spPr>
          </c:dPt>
          <c:dPt>
            <c:idx val="2"/>
            <c:spPr>
              <a:solidFill>
                <a:srgbClr val="CBD5E1"/>
              </a:solidFill>
            </c:spPr>
          </c:dPt>
          <c:dPt>
            <c:idx val="3"/>
            <c:spPr>
              <a:solidFill>
                <a:srgbClr val="CBD5E1"/>
              </a:solidFill>
            </c:spPr>
          </c:dPt>
          <c:dPt>
            <c:idx val="4"/>
            <c:spPr>
              <a:solidFill>
                <a:srgbClr val="CBD5E1"/>
              </a:solidFill>
            </c:spPr>
          </c:dPt>
          <c:dPt>
            <c:idx val="5"/>
            <c:spPr>
              <a:solidFill>
                <a:srgbClr val="CBD5E1"/>
              </a:solidFill>
            </c:spPr>
          </c:dPt>
          <c:dPt>
            <c:idx val="6"/>
            <c:spPr>
              <a:solidFill>
                <a:srgbClr val="3B82F6"/>
              </a:solidFill>
            </c:spPr>
          </c:dPt>
          <c:dPt>
            <c:idx val="7"/>
            <c:spPr>
              <a:solidFill>
                <a:srgbClr val="CBD5E1"/>
              </a:solidFill>
            </c:spPr>
          </c:dPt>
          <c:dPt>
            <c:idx val="8"/>
            <c:spPr>
              <a:solidFill>
                <a:srgbClr val="CBD5E1"/>
              </a:solidFill>
            </c:spPr>
          </c:dPt>
          <c:dPt>
            <c:idx val="9"/>
            <c:spPr>
              <a:solidFill>
                <a:srgbClr val="CBD5E1"/>
              </a:solidFill>
            </c:spPr>
          </c:dPt>
          <c:dPt>
            <c:idx val="10"/>
            <c:spPr>
              <a:solidFill>
                <a:srgbClr val="F59E0B"/>
              </a:solidFill>
            </c:spPr>
          </c:dPt>
          <c:cat>
            <c:strRef>
              <c:f>Sheet1!$A$2:$A$12</c:f>
              <c:strCache>
                <c:ptCount val="11"/>
                <c:pt idx="0">
                  <c:v>XGBoost · oversampling</c:v>
                </c:pt>
                <c:pt idx="1">
                  <c:v>RF · oversampling (tuned)</c:v>
                </c:pt>
                <c:pt idx="2">
                  <c:v>LightGBM · oversampl. (tuned)</c:v>
                </c:pt>
                <c:pt idx="3">
                  <c:v>XGBoost · class weights</c:v>
                </c:pt>
                <c:pt idx="4">
                  <c:v>LightGBM · class weights</c:v>
                </c:pt>
                <c:pt idx="5">
                  <c:v>RF · oversampling</c:v>
                </c:pt>
                <c:pt idx="6">
                  <c:v>RF · class weights  (selected)</c:v>
                </c:pt>
                <c:pt idx="7">
                  <c:v>LightGBM · oversampling</c:v>
                </c:pt>
                <c:pt idx="8">
                  <c:v>HistGB · oversamp. (tuned)</c:v>
                </c:pt>
                <c:pt idx="9">
                  <c:v>XGBoost · weights (tuned)</c:v>
                </c:pt>
                <c:pt idx="10">
                  <c:v>Dummy · majority class</c:v>
                </c:pt>
              </c:strCache>
            </c:strRef>
          </c:cat>
          <c:val>
            <c:numRef>
              <c:f>Sheet1!$B$2:$B$12</c:f>
              <c:numCache>
                <c:formatCode>General</c:formatCode>
                <c:ptCount val="11"/>
                <c:pt idx="0">
                  <c:v>0.493</c:v>
                </c:pt>
                <c:pt idx="1">
                  <c:v>0.493</c:v>
                </c:pt>
                <c:pt idx="2">
                  <c:v>0.492</c:v>
                </c:pt>
                <c:pt idx="3">
                  <c:v>0.492</c:v>
                </c:pt>
                <c:pt idx="4">
                  <c:v>0.491</c:v>
                </c:pt>
                <c:pt idx="5">
                  <c:v>0.49</c:v>
                </c:pt>
                <c:pt idx="6">
                  <c:v>0.489</c:v>
                </c:pt>
                <c:pt idx="7">
                  <c:v>0.489</c:v>
                </c:pt>
                <c:pt idx="8">
                  <c:v>0.488</c:v>
                </c:pt>
                <c:pt idx="9">
                  <c:v>0.486</c:v>
                </c:pt>
                <c:pt idx="10">
                  <c:v>0.277</c:v>
                </c:pt>
              </c:numCache>
            </c:numRef>
          </c:val>
        </c:ser>
        <c:dLbls>
          <c:numFmt formatCode="0.000" sourceLinked="0"/>
          <c:txPr>
            <a:bodyPr/>
            <a:lstStyle/>
            <a:p>
              <a:pPr>
                <a:defRPr sz="1100" b="1">
                  <a:solidFill>
                    <a:srgbClr val="161A3E"/>
                  </a:solidFil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axMin"/>
        </c:scaling>
        <c:delete val="0"/>
        <c:axPos val="l"/>
        <c:majorTickMark val="out"/>
        <c:minorTickMark val="none"/>
        <c:tickLblPos val="nextTo"/>
        <c:spPr>
          <a:ln>
            <a:solidFill>
              <a:srgbClr val="CBD5E1"/>
            </a:solidFill>
          </a:ln>
        </c:spPr>
        <c:txPr>
          <a:bodyPr/>
          <a:lstStyle/>
          <a:p>
            <a:pPr>
              <a:defRPr sz="1100"/>
            </a:pPr>
          </a:p>
        </c:txPr>
        <c:crossAx val="-2113994440"/>
        <c:crosses val="autoZero"/>
        <c:auto val="1"/>
        <c:lblAlgn val="ctr"/>
        <c:lblOffset val="100"/>
        <c:noMultiLvlLbl val="0"/>
      </c:catAx>
      <c:valAx>
        <c:axId val="-2113994440"/>
        <c:scaling>
          <c:max val="0.62"/>
          <c:min val="0.0"/>
        </c:scaling>
        <c:delete/>
        <c:axPos val="b"/>
        <c:majorTickMark val="out"/>
        <c:minorTickMark val="none"/>
        <c:tickLblPos val="nextTo"/>
        <c:crossAx val="-2068027336"/>
        <c:crosses val="autoZero"/>
      </c:valAx>
    </c:plotArea>
    <c:dispBlanksAs val="gap"/>
  </c:chart>
  <c:txPr>
    <a:bodyPr/>
    <a:lstStyle/>
    <a:p>
      <a:pPr>
        <a:defRPr sz="1100">
          <a:solidFill>
            <a:srgbClr val="161A3E"/>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dPt>
            <c:idx val="0"/>
            <c:spPr>
              <a:solidFill>
                <a:srgbClr val="F59E0B"/>
              </a:solidFill>
            </c:spPr>
          </c:dPt>
          <c:dPt>
            <c:idx val="1"/>
            <c:spPr>
              <a:solidFill>
                <a:srgbClr val="22D3EE"/>
              </a:solidFill>
            </c:spPr>
          </c:dPt>
          <c:dPt>
            <c:idx val="2"/>
            <c:spPr>
              <a:solidFill>
                <a:srgbClr val="3B82F6"/>
              </a:solidFill>
            </c:spPr>
          </c:dPt>
          <c:cat>
            <c:strRef>
              <c:f>Sheet1!$A$2:$A$4</c:f>
              <c:strCache>
                <c:ptCount val="3"/>
                <c:pt idx="0">
                  <c:v>Flop (n=8)</c:v>
                </c:pt>
                <c:pt idx="1">
                  <c:v>Average (n=277)</c:v>
                </c:pt>
                <c:pt idx="2">
                  <c:v>Hit (n=699)</c:v>
                </c:pt>
              </c:strCache>
            </c:strRef>
          </c:cat>
          <c:val>
            <c:numRef>
              <c:f>Sheet1!$B$2:$B$4</c:f>
              <c:numCache>
                <c:formatCode>General</c:formatCode>
                <c:ptCount val="3"/>
                <c:pt idx="0">
                  <c:v>0.12</c:v>
                </c:pt>
                <c:pt idx="1">
                  <c:v>0.71</c:v>
                </c:pt>
                <c:pt idx="2">
                  <c:v>0.76</c:v>
                </c:pt>
              </c:numCache>
            </c:numRef>
          </c:val>
        </c:ser>
        <c:dLbls>
          <c:numFmt formatCode="0.00" sourceLinked="0"/>
          <c:txPr>
            <a:bodyPr/>
            <a:lstStyle/>
            <a:p>
              <a:pPr>
                <a:defRPr sz="1200" b="1">
                  <a:solidFill>
                    <a:srgbClr val="161A3E"/>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CBD5E1"/>
            </a:solidFill>
          </a:ln>
        </c:spPr>
        <c:txPr>
          <a:bodyPr/>
          <a:lstStyle/>
          <a:p>
            <a:pPr>
              <a:defRPr sz="1200"/>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200">
          <a:solidFill>
            <a:srgbClr val="161A3E"/>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30-10-2026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Good morning/afternoon. I'm Darsan IS, and my capstone project is Movie Success Prediction using Machine Learning and AI. In short: we take movie metadata known BEFORE release and classify each film as a Flop, Average or Hit, based on its eventual IMDb rating band. The core of the project is machine learning. On top of that I added an Agentic AI layer that researches and explains movies. I'll walk through the problem, data, methodology, results, and then the AI extension.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This is the journey. First, the problem and the data. Second, the machine learning work: preprocessing, the system architecture, and a large model comparison, which is where most of my time went. Third, the results, and finally the Agentic AI addition. About two thirds of this talk is machine learning, and the AI layer is an extension on 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The problem: movie success is hard to estimate because many things affect how an audience receives a film. Our dataset is messy: missing values, mixed numeric and categorical fields, and a heavily imbalanced target, with only 41 Flops among 4,919 films. The task is to classify a film into a rating category using only information available before release. One important clarification: our label is an IMDb rating band, not box-office revenue or profit, so this is not a commercial-success predictor.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Seven objectives. The first five are the machine-learning core: understand the data, clean it, build a leakage-free pre-release pipeline, compare many algorithms and imbalance strategies, and evaluate with metrics that suit imbalanced data. Objective six is the interactive application, and objective seven is the Agentic AI extension, which is deliberately last because it builds on the ML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The dataset is the IMDb 5000 movie dataset: 5,043 rows and 28 columns. After removing exact duplicates and films scraped twice, we have 4,919 films. We use only nine inputs that are known before release: budget, duration, release year, aspect ratio, genres, country, language, content rating and colour. The key point is on the left: 3,495 Hits, 1,383 Averages and just 41 Flops, which is 0.8 percent. A model can get 71 percent accuracy by always saying Hit, so the imbalance shapes everything about how we train and evaluate.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On the left is the preprocessing workflow. Everything is fitted inside the ML pipeline on training data only, so no information leaks from the test set: median imputation with missing flags, a log transform and scaling for budget, categorical encoding with an Unknown level, rare categories pooled, and genres as separate flags. I also excluded post-release columns such as gross, votes, reviews and likes, because a pre-release model must not see them. On the right, the EDA shows the data is mostly modern films, budget is heavily skewed, and the missing values are modest but real.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 Here is the architecture. At the bottom of the stack, the data layer cleans the dataset and engineers features. The ML layer holds the preprocessing pipeline, the trained Random Forest classifier, the prediction engine and the explainability module. The application layer is a React frontend talking to a FastAPI backend with a prediction API. On the right is the Agentic AI layer, which I added as an extra. The AI Movie Researcher uses a local Ollama model to research a film on Wikipedia, runs the pre-release model, and reports risks. The AI Assistant is a Gemini chat that answers questions and explains stored research. The colour coding matters: blue is the ML prediction, violet is agentic research, cyan is AI explanation. The researcher never changes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sec] This is the heart of the ML work. Accuracy alone is misleading here, because always predicting Hit gives 71 percent. So I focus on Macro F1 and Balanced Accuracy. I evaluated 14 algorithms across 42 combinations with different imbalance strategies, using repeated stratified cross-validation, tuned the five strongest, and re-scored 14 finalists on fresh, identical folds. The bar chart shows cross-validation Macro F1. XGBoost has the highest mean, but the differences are tiny: all finalists are statistically indistinguishable under a corrected paired t-test. So my pre-declared rule picked the simplest model, Random Forest with class weights. I want to be clear that Random Forest is not the outright highest scorer. On the right is the selected model's confusion matrix on the held-out test set, which is a different evaluation from the cross-validation chart. It does reasonably on Average and Hit, but finds only one of eight Flops.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sec] On the left, the verified held-out test results for the selected Random Forest. Accuracy is 74.0 percent against a 71.0 percent baseline, balanced accuracy is 53.1 percent against 33.3 percent for chance, and Macro F1 is 0.516. Recall is 0.71 for Average and 0.76 for Hit, but only 0.12 for Flop, which means one of eight Flops. I don't want to hide that: there are only 41 Flops in the whole dataset, so no model here is reliable on that class. On the right is the Agentic AI addition, shown with real screenshots from the application. The AI Movie Researcher looks up a film, runs the pre-release model and lists risks, and it never changes the prediction. The AI Assistant is a Gemini chat that answers general questions or explains a stored analysis. These layers add context around the ML result; they do not replace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To conclude: I built a leakage-free, pre-release movie classification pipeline, compared 14 algorithms and 42 configurations with a rule fixed in advance, and picked Random Forest with class weights. The model is served through an interactive app and extended with Agentic AI for research and explanation. Limitations: the data is highly imbalanced with only 41 Flops, the label is an IMDb band rather than commercial success, and predictions are estimates. Future work: better minority-class prediction, more reliable pre-release features, and better generalisation to newer films.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 Thank you for listening. I'm happy to take questions about the model, the evaluation, or the AI components.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Roadmap: From Movie Data to Intelligent Insights</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01 · ROADMAP</a:t>
            </a:r>
          </a:p>
        </p:txBody>
      </p:sp>
      <p:sp>
        <p:nvSpPr>
          <p:cNvPr id="4" name="Pentagon 3"/>
          <p:cNvSpPr/>
          <p:nvPr/>
        </p:nvSpPr>
        <p:spPr>
          <a:xfrm>
            <a:off x="548640" y="1371600"/>
            <a:ext cx="3520440" cy="502920"/>
          </a:xfrm>
          <a:prstGeom prst="homePlate">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rmAutofit/>
          </a:bodyPr>
          <a:lstStyle/>
          <a:p>
            <a:pPr algn="l"/>
            <a:r>
              <a:rPr sz="1400" b="1">
                <a:solidFill>
                  <a:srgbClr val="FFFFFF"/>
                </a:solidFill>
                <a:latin typeface="Calibri"/>
              </a:rPr>
              <a:t>THE PROBLEM</a:t>
            </a:r>
          </a:p>
        </p:txBody>
      </p:sp>
      <p:sp>
        <p:nvSpPr>
          <p:cNvPr id="5" name="Rounded Rectangle 4"/>
          <p:cNvSpPr/>
          <p:nvPr/>
        </p:nvSpPr>
        <p:spPr>
          <a:xfrm>
            <a:off x="548640" y="2103120"/>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13232" y="2368296"/>
            <a:ext cx="566928" cy="566928"/>
          </a:xfrm>
          <a:prstGeom prst="ellipse">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1</a:t>
            </a:r>
          </a:p>
        </p:txBody>
      </p:sp>
      <p:sp>
        <p:nvSpPr>
          <p:cNvPr id="7" name="TextBox 6"/>
          <p:cNvSpPr txBox="1"/>
          <p:nvPr/>
        </p:nvSpPr>
        <p:spPr>
          <a:xfrm>
            <a:off x="1417319" y="2212848"/>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Problem Statement</a:t>
            </a:r>
          </a:p>
          <a:p>
            <a:pPr algn="l"/>
            <a:r>
              <a:rPr sz="1300" b="0">
                <a:solidFill>
                  <a:srgbClr val="475569"/>
                </a:solidFill>
                <a:latin typeface="Calibri"/>
              </a:rPr>
              <a:t>Why movie success is hard to estimate</a:t>
            </a:r>
          </a:p>
        </p:txBody>
      </p:sp>
      <p:sp>
        <p:nvSpPr>
          <p:cNvPr id="8" name="Rounded Rectangle 7"/>
          <p:cNvSpPr/>
          <p:nvPr/>
        </p:nvSpPr>
        <p:spPr>
          <a:xfrm>
            <a:off x="548640" y="3401568"/>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13232" y="3666744"/>
            <a:ext cx="566928" cy="566928"/>
          </a:xfrm>
          <a:prstGeom prst="ellipse">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2</a:t>
            </a:r>
          </a:p>
        </p:txBody>
      </p:sp>
      <p:sp>
        <p:nvSpPr>
          <p:cNvPr id="10" name="TextBox 9"/>
          <p:cNvSpPr txBox="1"/>
          <p:nvPr/>
        </p:nvSpPr>
        <p:spPr>
          <a:xfrm>
            <a:off x="1417319" y="3511296"/>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Project Objectives</a:t>
            </a:r>
          </a:p>
          <a:p>
            <a:pPr algn="l"/>
            <a:r>
              <a:rPr sz="1300" b="0">
                <a:solidFill>
                  <a:srgbClr val="475569"/>
                </a:solidFill>
                <a:latin typeface="Calibri"/>
              </a:rPr>
              <a:t>Seven goals, machine learning first</a:t>
            </a:r>
          </a:p>
        </p:txBody>
      </p:sp>
      <p:sp>
        <p:nvSpPr>
          <p:cNvPr id="11" name="Rounded Rectangle 10"/>
          <p:cNvSpPr/>
          <p:nvPr/>
        </p:nvSpPr>
        <p:spPr>
          <a:xfrm>
            <a:off x="548640" y="4700016"/>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3232" y="4965192"/>
            <a:ext cx="566928" cy="566928"/>
          </a:xfrm>
          <a:prstGeom prst="ellipse">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3</a:t>
            </a:r>
          </a:p>
        </p:txBody>
      </p:sp>
      <p:sp>
        <p:nvSpPr>
          <p:cNvPr id="13" name="TextBox 12"/>
          <p:cNvSpPr txBox="1"/>
          <p:nvPr/>
        </p:nvSpPr>
        <p:spPr>
          <a:xfrm>
            <a:off x="1417319" y="4809744"/>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Dataset Description</a:t>
            </a:r>
          </a:p>
          <a:p>
            <a:pPr algn="l"/>
            <a:r>
              <a:rPr sz="1300" b="0">
                <a:solidFill>
                  <a:srgbClr val="475569"/>
                </a:solidFill>
                <a:latin typeface="Calibri"/>
              </a:rPr>
              <a:t>5,043 films → 4,919 cleaned</a:t>
            </a:r>
          </a:p>
        </p:txBody>
      </p:sp>
      <p:sp>
        <p:nvSpPr>
          <p:cNvPr id="14" name="Pentagon 13"/>
          <p:cNvSpPr/>
          <p:nvPr/>
        </p:nvSpPr>
        <p:spPr>
          <a:xfrm>
            <a:off x="4334255" y="1371600"/>
            <a:ext cx="3520440" cy="502920"/>
          </a:xfrm>
          <a:prstGeom prst="homePlat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rmAutofit/>
          </a:bodyPr>
          <a:lstStyle/>
          <a:p>
            <a:pPr algn="l"/>
            <a:r>
              <a:rPr sz="1400" b="1">
                <a:solidFill>
                  <a:srgbClr val="FFFFFF"/>
                </a:solidFill>
                <a:latin typeface="Calibri"/>
              </a:rPr>
              <a:t>THE MACHINE LEARNING</a:t>
            </a:r>
          </a:p>
        </p:txBody>
      </p:sp>
      <p:sp>
        <p:nvSpPr>
          <p:cNvPr id="15" name="Rounded Rectangle 14"/>
          <p:cNvSpPr/>
          <p:nvPr/>
        </p:nvSpPr>
        <p:spPr>
          <a:xfrm>
            <a:off x="4334255" y="2103120"/>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98847" y="2368296"/>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4</a:t>
            </a:r>
          </a:p>
        </p:txBody>
      </p:sp>
      <p:sp>
        <p:nvSpPr>
          <p:cNvPr id="17" name="TextBox 16"/>
          <p:cNvSpPr txBox="1"/>
          <p:nvPr/>
        </p:nvSpPr>
        <p:spPr>
          <a:xfrm>
            <a:off x="5202936" y="2212848"/>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Preprocessing &amp; EDA</a:t>
            </a:r>
          </a:p>
          <a:p>
            <a:pPr algn="l"/>
            <a:r>
              <a:rPr sz="1300" b="0">
                <a:solidFill>
                  <a:srgbClr val="475569"/>
                </a:solidFill>
                <a:latin typeface="Calibri"/>
              </a:rPr>
              <a:t>Leakage-safe pipeline and key patterns</a:t>
            </a:r>
          </a:p>
        </p:txBody>
      </p:sp>
      <p:sp>
        <p:nvSpPr>
          <p:cNvPr id="18" name="Rounded Rectangle 17"/>
          <p:cNvSpPr/>
          <p:nvPr/>
        </p:nvSpPr>
        <p:spPr>
          <a:xfrm>
            <a:off x="4334255" y="3401568"/>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98847" y="3666744"/>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5</a:t>
            </a:r>
          </a:p>
        </p:txBody>
      </p:sp>
      <p:sp>
        <p:nvSpPr>
          <p:cNvPr id="20" name="TextBox 19"/>
          <p:cNvSpPr txBox="1"/>
          <p:nvPr/>
        </p:nvSpPr>
        <p:spPr>
          <a:xfrm>
            <a:off x="5202936" y="3511296"/>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Architecture &amp; Workflow</a:t>
            </a:r>
          </a:p>
          <a:p>
            <a:pPr algn="l"/>
            <a:r>
              <a:rPr sz="1300" b="0">
                <a:solidFill>
                  <a:srgbClr val="475569"/>
                </a:solidFill>
                <a:latin typeface="Calibri"/>
              </a:rPr>
              <a:t>Data → ML → App → Agentic AI</a:t>
            </a:r>
          </a:p>
        </p:txBody>
      </p:sp>
      <p:sp>
        <p:nvSpPr>
          <p:cNvPr id="21" name="Rounded Rectangle 20"/>
          <p:cNvSpPr/>
          <p:nvPr/>
        </p:nvSpPr>
        <p:spPr>
          <a:xfrm>
            <a:off x="4334255" y="4700016"/>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98847" y="4965192"/>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6</a:t>
            </a:r>
          </a:p>
        </p:txBody>
      </p:sp>
      <p:sp>
        <p:nvSpPr>
          <p:cNvPr id="23" name="TextBox 22"/>
          <p:cNvSpPr txBox="1"/>
          <p:nvPr/>
        </p:nvSpPr>
        <p:spPr>
          <a:xfrm>
            <a:off x="5202936" y="4809744"/>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Model Evaluation</a:t>
            </a:r>
          </a:p>
          <a:p>
            <a:pPr algn="l"/>
            <a:r>
              <a:rPr sz="1300" b="0">
                <a:solidFill>
                  <a:srgbClr val="475569"/>
                </a:solidFill>
                <a:latin typeface="Calibri"/>
              </a:rPr>
              <a:t>14 algorithms, 42 configurations</a:t>
            </a:r>
          </a:p>
        </p:txBody>
      </p:sp>
      <p:sp>
        <p:nvSpPr>
          <p:cNvPr id="24" name="Pentagon 23"/>
          <p:cNvSpPr/>
          <p:nvPr/>
        </p:nvSpPr>
        <p:spPr>
          <a:xfrm>
            <a:off x="8119871" y="1371600"/>
            <a:ext cx="3520440" cy="502920"/>
          </a:xfrm>
          <a:prstGeom prst="homePlat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rmAutofit/>
          </a:bodyPr>
          <a:lstStyle/>
          <a:p>
            <a:pPr algn="l"/>
            <a:r>
              <a:rPr sz="1400" b="1">
                <a:solidFill>
                  <a:srgbClr val="FFFFFF"/>
                </a:solidFill>
                <a:latin typeface="Calibri"/>
              </a:rPr>
              <a:t>RESULTS &amp; EXTENSION</a:t>
            </a:r>
          </a:p>
        </p:txBody>
      </p:sp>
      <p:sp>
        <p:nvSpPr>
          <p:cNvPr id="25" name="Rounded Rectangle 24"/>
          <p:cNvSpPr/>
          <p:nvPr/>
        </p:nvSpPr>
        <p:spPr>
          <a:xfrm>
            <a:off x="8119871" y="2103120"/>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84463" y="2368296"/>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7</a:t>
            </a:r>
          </a:p>
        </p:txBody>
      </p:sp>
      <p:sp>
        <p:nvSpPr>
          <p:cNvPr id="27" name="TextBox 26"/>
          <p:cNvSpPr txBox="1"/>
          <p:nvPr/>
        </p:nvSpPr>
        <p:spPr>
          <a:xfrm>
            <a:off x="8988551" y="2212848"/>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Results &amp; Key Findings</a:t>
            </a:r>
          </a:p>
          <a:p>
            <a:pPr algn="l"/>
            <a:r>
              <a:rPr sz="1300" b="0">
                <a:solidFill>
                  <a:srgbClr val="475569"/>
                </a:solidFill>
                <a:latin typeface="Calibri"/>
              </a:rPr>
              <a:t>Honest held-out performance</a:t>
            </a:r>
          </a:p>
        </p:txBody>
      </p:sp>
      <p:sp>
        <p:nvSpPr>
          <p:cNvPr id="28" name="Rounded Rectangle 27"/>
          <p:cNvSpPr/>
          <p:nvPr/>
        </p:nvSpPr>
        <p:spPr>
          <a:xfrm>
            <a:off x="8119871" y="3401568"/>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84463" y="3666744"/>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8</a:t>
            </a:r>
          </a:p>
        </p:txBody>
      </p:sp>
      <p:sp>
        <p:nvSpPr>
          <p:cNvPr id="30" name="TextBox 29"/>
          <p:cNvSpPr txBox="1"/>
          <p:nvPr/>
        </p:nvSpPr>
        <p:spPr>
          <a:xfrm>
            <a:off x="8988551" y="3511296"/>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Agentic AI Integration</a:t>
            </a:r>
          </a:p>
          <a:p>
            <a:pPr algn="l"/>
            <a:r>
              <a:rPr sz="1300" b="0">
                <a:solidFill>
                  <a:srgbClr val="475569"/>
                </a:solidFill>
                <a:latin typeface="Calibri"/>
              </a:rPr>
              <a:t>AI Movie Researcher and Assistant</a:t>
            </a:r>
          </a:p>
        </p:txBody>
      </p:sp>
      <p:sp>
        <p:nvSpPr>
          <p:cNvPr id="31" name="Rounded Rectangle 30"/>
          <p:cNvSpPr/>
          <p:nvPr/>
        </p:nvSpPr>
        <p:spPr>
          <a:xfrm>
            <a:off x="8119871" y="4700016"/>
            <a:ext cx="3520440" cy="1115568"/>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84463" y="4965192"/>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2000" b="1">
                <a:solidFill>
                  <a:srgbClr val="FFFFFF"/>
                </a:solidFill>
                <a:latin typeface="Calibri"/>
              </a:rPr>
              <a:t>9</a:t>
            </a:r>
          </a:p>
        </p:txBody>
      </p:sp>
      <p:sp>
        <p:nvSpPr>
          <p:cNvPr id="33" name="TextBox 32"/>
          <p:cNvSpPr txBox="1"/>
          <p:nvPr/>
        </p:nvSpPr>
        <p:spPr>
          <a:xfrm>
            <a:off x="8988551" y="4809744"/>
            <a:ext cx="2560320" cy="914400"/>
          </a:xfrm>
          <a:prstGeom prst="rect">
            <a:avLst/>
          </a:prstGeom>
          <a:noFill/>
        </p:spPr>
        <p:txBody>
          <a:bodyPr wrap="square" lIns="73152" rIns="73152" tIns="36576" bIns="36576" anchor="ctr">
            <a:normAutofit/>
          </a:bodyPr>
          <a:lstStyle/>
          <a:p>
            <a:pPr algn="l">
              <a:spcAft>
                <a:spcPts val="200"/>
              </a:spcAft>
            </a:pPr>
            <a:r>
              <a:rPr sz="1600" b="1">
                <a:solidFill>
                  <a:srgbClr val="161A3E"/>
                </a:solidFill>
                <a:latin typeface="Calibri"/>
              </a:rPr>
              <a:t>Conclusion</a:t>
            </a:r>
          </a:p>
          <a:p>
            <a:pPr algn="l"/>
            <a:r>
              <a:rPr sz="1300" b="0">
                <a:solidFill>
                  <a:srgbClr val="475569"/>
                </a:solidFill>
                <a:latin typeface="Calibri"/>
              </a:rPr>
              <a:t>Limitations and future scope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Problem Statement: Estimating Success Before Release</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02 · PROBLEM</a:t>
            </a:r>
          </a:p>
        </p:txBody>
      </p:sp>
      <p:sp>
        <p:nvSpPr>
          <p:cNvPr id="4" name="Rounded Rectangle 3"/>
          <p:cNvSpPr/>
          <p:nvPr/>
        </p:nvSpPr>
        <p:spPr>
          <a:xfrm>
            <a:off x="548640" y="1371600"/>
            <a:ext cx="2331720" cy="109728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spcAft>
                <a:spcPts val="200"/>
              </a:spcAft>
            </a:pPr>
            <a:r>
              <a:rPr sz="1600" b="1">
                <a:solidFill>
                  <a:srgbClr val="FFFFFF"/>
                </a:solidFill>
                <a:latin typeface="Calibri"/>
              </a:rPr>
              <a:t>Movie Metadata</a:t>
            </a:r>
          </a:p>
          <a:p>
            <a:pPr algn="ctr"/>
            <a:r>
              <a:rPr sz="1200" b="0">
                <a:solidFill>
                  <a:srgbClr val="FFFFFF"/>
                </a:solidFill>
                <a:latin typeface="Calibri"/>
              </a:rPr>
              <a:t>9 pre-release inputs</a:t>
            </a:r>
          </a:p>
        </p:txBody>
      </p:sp>
      <p:sp>
        <p:nvSpPr>
          <p:cNvPr id="5" name="Right Arrow 4"/>
          <p:cNvSpPr/>
          <p:nvPr/>
        </p:nvSpPr>
        <p:spPr>
          <a:xfrm>
            <a:off x="2944368" y="1755648"/>
            <a:ext cx="457200" cy="329184"/>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465576" y="1371600"/>
            <a:ext cx="2331720" cy="109728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spcAft>
                <a:spcPts val="200"/>
              </a:spcAft>
            </a:pPr>
            <a:r>
              <a:rPr sz="1600" b="1">
                <a:solidFill>
                  <a:srgbClr val="101827"/>
                </a:solidFill>
                <a:latin typeface="Calibri"/>
              </a:rPr>
              <a:t>Prediction Challenges</a:t>
            </a:r>
          </a:p>
          <a:p>
            <a:pPr algn="ctr"/>
            <a:r>
              <a:rPr sz="1200" b="0">
                <a:solidFill>
                  <a:srgbClr val="101827"/>
                </a:solidFill>
                <a:latin typeface="Calibri"/>
              </a:rPr>
              <a:t>Missing values · imbalance · noise</a:t>
            </a:r>
          </a:p>
        </p:txBody>
      </p:sp>
      <p:sp>
        <p:nvSpPr>
          <p:cNvPr id="7" name="Right Arrow 6"/>
          <p:cNvSpPr/>
          <p:nvPr/>
        </p:nvSpPr>
        <p:spPr>
          <a:xfrm>
            <a:off x="5861304" y="1755648"/>
            <a:ext cx="457200" cy="329184"/>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82512" y="1371600"/>
            <a:ext cx="2331720" cy="1097280"/>
          </a:xfrm>
          <a:prstGeom prst="roundRect">
            <a:avLst>
              <a:gd name="adj" fmla="val 8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spcAft>
                <a:spcPts val="200"/>
              </a:spcAft>
            </a:pPr>
            <a:r>
              <a:rPr sz="1600" b="1">
                <a:solidFill>
                  <a:srgbClr val="FFFFFF"/>
                </a:solidFill>
                <a:latin typeface="Calibri"/>
              </a:rPr>
              <a:t>ML Classification</a:t>
            </a:r>
          </a:p>
          <a:p>
            <a:pPr algn="ctr"/>
            <a:r>
              <a:rPr sz="1200" b="0">
                <a:solidFill>
                  <a:srgbClr val="FFFFFF"/>
                </a:solidFill>
                <a:latin typeface="Calibri"/>
              </a:rPr>
              <a:t>14 algorithms compared</a:t>
            </a:r>
          </a:p>
        </p:txBody>
      </p:sp>
      <p:sp>
        <p:nvSpPr>
          <p:cNvPr id="9" name="Right Arrow 8"/>
          <p:cNvSpPr/>
          <p:nvPr/>
        </p:nvSpPr>
        <p:spPr>
          <a:xfrm>
            <a:off x="8778240" y="1755648"/>
            <a:ext cx="457200" cy="329184"/>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299448" y="1371600"/>
            <a:ext cx="2331720" cy="1097280"/>
          </a:xfrm>
          <a:prstGeom prst="roundRect">
            <a:avLst>
              <a:gd name="adj" fmla="val 8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spcAft>
                <a:spcPts val="200"/>
              </a:spcAft>
            </a:pPr>
            <a:r>
              <a:rPr sz="1600" b="1">
                <a:solidFill>
                  <a:srgbClr val="101827"/>
                </a:solidFill>
                <a:latin typeface="Calibri"/>
              </a:rPr>
              <a:t>Rating Category</a:t>
            </a:r>
          </a:p>
          <a:p>
            <a:pPr algn="ctr"/>
            <a:r>
              <a:rPr sz="1200" b="0">
                <a:solidFill>
                  <a:srgbClr val="101827"/>
                </a:solidFill>
                <a:latin typeface="Calibri"/>
              </a:rPr>
              <a:t>Flop · Average · Hit</a:t>
            </a:r>
          </a:p>
        </p:txBody>
      </p:sp>
      <p:sp>
        <p:nvSpPr>
          <p:cNvPr id="11" name="Rectangle 10"/>
          <p:cNvSpPr/>
          <p:nvPr/>
        </p:nvSpPr>
        <p:spPr>
          <a:xfrm>
            <a:off x="548640" y="2788920"/>
            <a:ext cx="3520440" cy="31546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788920"/>
            <a:ext cx="82296" cy="315468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880360"/>
            <a:ext cx="3200400" cy="457200"/>
          </a:xfrm>
          <a:prstGeom prst="rect">
            <a:avLst/>
          </a:prstGeom>
          <a:noFill/>
        </p:spPr>
        <p:txBody>
          <a:bodyPr wrap="square" lIns="73152" rIns="73152" tIns="36576" bIns="36576" anchor="ctr">
            <a:normAutofit/>
          </a:bodyPr>
          <a:lstStyle/>
          <a:p>
            <a:pPr algn="l"/>
            <a:r>
              <a:rPr sz="1700" b="1">
                <a:solidFill>
                  <a:srgbClr val="161A3E"/>
                </a:solidFill>
                <a:latin typeface="Calibri"/>
              </a:rPr>
              <a:t>Why it matters</a:t>
            </a:r>
          </a:p>
        </p:txBody>
      </p:sp>
      <p:sp>
        <p:nvSpPr>
          <p:cNvPr id="14" name="TextBox 13"/>
          <p:cNvSpPr txBox="1"/>
          <p:nvPr/>
        </p:nvSpPr>
        <p:spPr>
          <a:xfrm>
            <a:off x="777240" y="3383280"/>
            <a:ext cx="3200400" cy="2514600"/>
          </a:xfrm>
          <a:prstGeom prst="rect">
            <a:avLst/>
          </a:prstGeom>
          <a:noFill/>
        </p:spPr>
        <p:txBody>
          <a:bodyPr wrap="square" lIns="73152" rIns="73152" tIns="36576" bIns="36576" anchor="t">
            <a:normAutofit/>
          </a:bodyPr>
          <a:lstStyle/>
          <a:p>
            <a:pPr algn="l" marL="200000" indent="-200000">
              <a:spcAft>
                <a:spcPts val="800"/>
              </a:spcAft>
              <a:buChar char="•"/>
            </a:pPr>
            <a:r>
              <a:rPr sz="1400" b="0">
                <a:solidFill>
                  <a:srgbClr val="161A3E"/>
                </a:solidFill>
                <a:latin typeface="Calibri"/>
              </a:rPr>
              <a:t>Release decisions are made under uncertainty</a:t>
            </a:r>
          </a:p>
          <a:p>
            <a:pPr algn="l" marL="200000" indent="-200000">
              <a:spcAft>
                <a:spcPts val="800"/>
              </a:spcAft>
              <a:buChar char="•"/>
            </a:pPr>
            <a:r>
              <a:rPr sz="1400" b="0">
                <a:solidFill>
                  <a:srgbClr val="161A3E"/>
                </a:solidFill>
                <a:latin typeface="Calibri"/>
              </a:rPr>
              <a:t>A useful estimate must use only what is known BEFORE release: no votes, reviews or box office</a:t>
            </a:r>
          </a:p>
          <a:p>
            <a:pPr algn="l" marL="200000" indent="-200000">
              <a:spcAft>
                <a:spcPts val="800"/>
              </a:spcAft>
              <a:buChar char="•"/>
            </a:pPr>
            <a:r>
              <a:rPr sz="1400" b="0">
                <a:solidFill>
                  <a:srgbClr val="161A3E"/>
                </a:solidFill>
                <a:latin typeface="Calibri"/>
              </a:rPr>
              <a:t>Early signal supports planning; it is not a guarantee</a:t>
            </a:r>
          </a:p>
        </p:txBody>
      </p:sp>
      <p:sp>
        <p:nvSpPr>
          <p:cNvPr id="15" name="Rectangle 14"/>
          <p:cNvSpPr/>
          <p:nvPr/>
        </p:nvSpPr>
        <p:spPr>
          <a:xfrm>
            <a:off x="4334255" y="2788920"/>
            <a:ext cx="3520440" cy="31546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34255" y="2788920"/>
            <a:ext cx="82296" cy="3154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2855" y="2880360"/>
            <a:ext cx="3200400" cy="457200"/>
          </a:xfrm>
          <a:prstGeom prst="rect">
            <a:avLst/>
          </a:prstGeom>
          <a:noFill/>
        </p:spPr>
        <p:txBody>
          <a:bodyPr wrap="square" lIns="73152" rIns="73152" tIns="36576" bIns="36576" anchor="ctr">
            <a:normAutofit/>
          </a:bodyPr>
          <a:lstStyle/>
          <a:p>
            <a:pPr algn="l"/>
            <a:r>
              <a:rPr sz="1700" b="1">
                <a:solidFill>
                  <a:srgbClr val="161A3E"/>
                </a:solidFill>
                <a:latin typeface="Calibri"/>
              </a:rPr>
              <a:t>Main technical challenges</a:t>
            </a:r>
          </a:p>
        </p:txBody>
      </p:sp>
      <p:sp>
        <p:nvSpPr>
          <p:cNvPr id="18" name="TextBox 17"/>
          <p:cNvSpPr txBox="1"/>
          <p:nvPr/>
        </p:nvSpPr>
        <p:spPr>
          <a:xfrm>
            <a:off x="4562855" y="3383280"/>
            <a:ext cx="3200400" cy="2514600"/>
          </a:xfrm>
          <a:prstGeom prst="rect">
            <a:avLst/>
          </a:prstGeom>
          <a:noFill/>
        </p:spPr>
        <p:txBody>
          <a:bodyPr wrap="square" lIns="73152" rIns="73152" tIns="36576" bIns="36576" anchor="t">
            <a:normAutofit/>
          </a:bodyPr>
          <a:lstStyle/>
          <a:p>
            <a:pPr algn="l" marL="200000" indent="-200000">
              <a:spcAft>
                <a:spcPts val="800"/>
              </a:spcAft>
              <a:buChar char="•"/>
            </a:pPr>
            <a:r>
              <a:rPr sz="1400" b="0">
                <a:solidFill>
                  <a:srgbClr val="161A3E"/>
                </a:solidFill>
                <a:latin typeface="Calibri"/>
              </a:rPr>
              <a:t>Missing values: budget 9.9%, aspect ratio 6.6%, content rating 6.1%</a:t>
            </a:r>
          </a:p>
          <a:p>
            <a:pPr algn="l" marL="200000" indent="-200000">
              <a:spcAft>
                <a:spcPts val="800"/>
              </a:spcAft>
              <a:buChar char="•"/>
            </a:pPr>
            <a:r>
              <a:rPr sz="1400" b="0">
                <a:solidFill>
                  <a:srgbClr val="161A3E"/>
                </a:solidFill>
                <a:latin typeface="Calibri"/>
              </a:rPr>
              <a:t>Severe imbalance: 41 Flops vs 3,495 Hits</a:t>
            </a:r>
          </a:p>
          <a:p>
            <a:pPr algn="l" marL="200000" indent="-200000">
              <a:spcAft>
                <a:spcPts val="800"/>
              </a:spcAft>
              <a:buChar char="•"/>
            </a:pPr>
            <a:r>
              <a:rPr sz="1400" b="0">
                <a:solidFill>
                  <a:srgbClr val="161A3E"/>
                </a:solidFill>
                <a:latin typeface="Calibri"/>
              </a:rPr>
              <a:t>Mixed numeric and categorical metadata; budget mixes currencies</a:t>
            </a:r>
          </a:p>
        </p:txBody>
      </p:sp>
      <p:sp>
        <p:nvSpPr>
          <p:cNvPr id="19" name="Rectangle 18"/>
          <p:cNvSpPr/>
          <p:nvPr/>
        </p:nvSpPr>
        <p:spPr>
          <a:xfrm>
            <a:off x="8119871" y="2788920"/>
            <a:ext cx="3520440" cy="31546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1" y="2788920"/>
            <a:ext cx="82296" cy="31546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48471" y="2880360"/>
            <a:ext cx="3200400" cy="457200"/>
          </a:xfrm>
          <a:prstGeom prst="rect">
            <a:avLst/>
          </a:prstGeom>
          <a:noFill/>
        </p:spPr>
        <p:txBody>
          <a:bodyPr wrap="square" lIns="73152" rIns="73152" tIns="36576" bIns="36576" anchor="ctr">
            <a:normAutofit/>
          </a:bodyPr>
          <a:lstStyle/>
          <a:p>
            <a:pPr algn="l"/>
            <a:r>
              <a:rPr sz="1700" b="1">
                <a:solidFill>
                  <a:srgbClr val="161A3E"/>
                </a:solidFill>
                <a:latin typeface="Calibri"/>
              </a:rPr>
              <a:t>IMDb rating ≠ commercial success</a:t>
            </a:r>
          </a:p>
        </p:txBody>
      </p:sp>
      <p:sp>
        <p:nvSpPr>
          <p:cNvPr id="22" name="TextBox 21"/>
          <p:cNvSpPr txBox="1"/>
          <p:nvPr/>
        </p:nvSpPr>
        <p:spPr>
          <a:xfrm>
            <a:off x="8348471" y="3383280"/>
            <a:ext cx="3200400" cy="2514600"/>
          </a:xfrm>
          <a:prstGeom prst="rect">
            <a:avLst/>
          </a:prstGeom>
          <a:noFill/>
        </p:spPr>
        <p:txBody>
          <a:bodyPr wrap="square" lIns="73152" rIns="73152" tIns="36576" bIns="36576" anchor="t">
            <a:normAutofit/>
          </a:bodyPr>
          <a:lstStyle/>
          <a:p>
            <a:pPr algn="l" marL="200000" indent="-200000">
              <a:spcAft>
                <a:spcPts val="800"/>
              </a:spcAft>
              <a:buChar char="•"/>
            </a:pPr>
            <a:r>
              <a:rPr sz="1400" b="0">
                <a:solidFill>
                  <a:srgbClr val="161A3E"/>
                </a:solidFill>
                <a:latin typeface="Calibri"/>
              </a:rPr>
              <a:t>Label = IMDb score band: Flop &lt; 3, Average 3 to &lt; 6, Hit ≥ 6</a:t>
            </a:r>
          </a:p>
          <a:p>
            <a:pPr algn="l" marL="200000" indent="-200000">
              <a:spcAft>
                <a:spcPts val="800"/>
              </a:spcAft>
              <a:buChar char="•"/>
            </a:pPr>
            <a:r>
              <a:rPr sz="1400" b="0">
                <a:solidFill>
                  <a:srgbClr val="161A3E"/>
                </a:solidFill>
                <a:latin typeface="Calibri"/>
              </a:rPr>
              <a:t>It is not box office or profit</a:t>
            </a:r>
          </a:p>
          <a:p>
            <a:pPr algn="l" marL="200000" indent="-200000">
              <a:spcAft>
                <a:spcPts val="800"/>
              </a:spcAft>
              <a:buChar char="•"/>
            </a:pPr>
            <a:r>
              <a:rPr sz="1400" b="0">
                <a:solidFill>
                  <a:srgbClr val="161A3E"/>
                </a:solidFill>
                <a:latin typeface="Calibri"/>
              </a:rPr>
              <a:t>Output is an estimated rating category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Project Objectives</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03 · OBJECTIVES</a:t>
            </a:r>
          </a:p>
        </p:txBody>
      </p:sp>
      <p:sp>
        <p:nvSpPr>
          <p:cNvPr id="4" name="Rounded Rectangle 3"/>
          <p:cNvSpPr/>
          <p:nvPr/>
        </p:nvSpPr>
        <p:spPr>
          <a:xfrm>
            <a:off x="548640" y="1371600"/>
            <a:ext cx="2560320" cy="2103120"/>
          </a:xfrm>
          <a:prstGeom prst="roundRect">
            <a:avLst>
              <a:gd name="adj" fmla="val 5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5544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800" b="1">
                <a:solidFill>
                  <a:srgbClr val="101827"/>
                </a:solidFill>
                <a:latin typeface="Calibri"/>
              </a:rPr>
              <a:t>1</a:t>
            </a:r>
          </a:p>
        </p:txBody>
      </p:sp>
      <p:sp>
        <p:nvSpPr>
          <p:cNvPr id="6" name="TextBox 5"/>
          <p:cNvSpPr txBox="1"/>
          <p:nvPr/>
        </p:nvSpPr>
        <p:spPr>
          <a:xfrm>
            <a:off x="685800" y="2148840"/>
            <a:ext cx="2286000" cy="1280160"/>
          </a:xfrm>
          <a:prstGeom prst="rect">
            <a:avLst/>
          </a:prstGeom>
          <a:noFill/>
        </p:spPr>
        <p:txBody>
          <a:bodyPr wrap="square" lIns="73152" rIns="73152" tIns="36576" bIns="36576" anchor="t">
            <a:normAutofit/>
          </a:bodyPr>
          <a:lstStyle/>
          <a:p>
            <a:pPr algn="l">
              <a:spcAft>
                <a:spcPts val="400"/>
              </a:spcAft>
            </a:pPr>
            <a:r>
              <a:rPr sz="1600" b="1">
                <a:solidFill>
                  <a:srgbClr val="FFFFFF"/>
                </a:solidFill>
                <a:latin typeface="Calibri"/>
              </a:rPr>
              <a:t>Analyze movie metadata</a:t>
            </a:r>
          </a:p>
          <a:p>
            <a:pPr algn="l"/>
            <a:r>
              <a:rPr sz="1300" b="0">
                <a:solidFill>
                  <a:srgbClr val="E2E8F0"/>
                </a:solidFill>
                <a:latin typeface="Calibri"/>
              </a:rPr>
              <a:t>Discover meaningful patterns across 5,043 films</a:t>
            </a:r>
          </a:p>
        </p:txBody>
      </p:sp>
      <p:sp>
        <p:nvSpPr>
          <p:cNvPr id="7" name="Rounded Rectangle 6"/>
          <p:cNvSpPr/>
          <p:nvPr/>
        </p:nvSpPr>
        <p:spPr>
          <a:xfrm>
            <a:off x="3392424" y="1371600"/>
            <a:ext cx="2560320" cy="2103120"/>
          </a:xfrm>
          <a:prstGeom prst="roundRect">
            <a:avLst>
              <a:gd name="adj" fmla="val 5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75304" y="15544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800" b="1">
                <a:solidFill>
                  <a:srgbClr val="101827"/>
                </a:solidFill>
                <a:latin typeface="Calibri"/>
              </a:rPr>
              <a:t>2</a:t>
            </a:r>
          </a:p>
        </p:txBody>
      </p:sp>
      <p:sp>
        <p:nvSpPr>
          <p:cNvPr id="9" name="TextBox 8"/>
          <p:cNvSpPr txBox="1"/>
          <p:nvPr/>
        </p:nvSpPr>
        <p:spPr>
          <a:xfrm>
            <a:off x="3529584" y="2148840"/>
            <a:ext cx="2286000" cy="1280160"/>
          </a:xfrm>
          <a:prstGeom prst="rect">
            <a:avLst/>
          </a:prstGeom>
          <a:noFill/>
        </p:spPr>
        <p:txBody>
          <a:bodyPr wrap="square" lIns="73152" rIns="73152" tIns="36576" bIns="36576" anchor="t">
            <a:normAutofit/>
          </a:bodyPr>
          <a:lstStyle/>
          <a:p>
            <a:pPr algn="l">
              <a:spcAft>
                <a:spcPts val="400"/>
              </a:spcAft>
            </a:pPr>
            <a:r>
              <a:rPr sz="1600" b="1">
                <a:solidFill>
                  <a:srgbClr val="FFFFFF"/>
                </a:solidFill>
                <a:latin typeface="Calibri"/>
              </a:rPr>
              <a:t>Clean and explore the data</a:t>
            </a:r>
          </a:p>
          <a:p>
            <a:pPr algn="l"/>
            <a:r>
              <a:rPr sz="1300" b="0">
                <a:solidFill>
                  <a:srgbClr val="E2E8F0"/>
                </a:solidFill>
                <a:latin typeface="Calibri"/>
              </a:rPr>
              <a:t>Duplicates, missing values and exploratory analysis</a:t>
            </a:r>
          </a:p>
        </p:txBody>
      </p:sp>
      <p:sp>
        <p:nvSpPr>
          <p:cNvPr id="10" name="Rounded Rectangle 9"/>
          <p:cNvSpPr/>
          <p:nvPr/>
        </p:nvSpPr>
        <p:spPr>
          <a:xfrm>
            <a:off x="6236208" y="1371600"/>
            <a:ext cx="2560320" cy="2103120"/>
          </a:xfrm>
          <a:prstGeom prst="roundRect">
            <a:avLst>
              <a:gd name="adj" fmla="val 5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5544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800" b="1">
                <a:solidFill>
                  <a:srgbClr val="101827"/>
                </a:solidFill>
                <a:latin typeface="Calibri"/>
              </a:rPr>
              <a:t>3</a:t>
            </a:r>
          </a:p>
        </p:txBody>
      </p:sp>
      <p:sp>
        <p:nvSpPr>
          <p:cNvPr id="12" name="TextBox 11"/>
          <p:cNvSpPr txBox="1"/>
          <p:nvPr/>
        </p:nvSpPr>
        <p:spPr>
          <a:xfrm>
            <a:off x="6373368" y="2148840"/>
            <a:ext cx="2286000" cy="1280160"/>
          </a:xfrm>
          <a:prstGeom prst="rect">
            <a:avLst/>
          </a:prstGeom>
          <a:noFill/>
        </p:spPr>
        <p:txBody>
          <a:bodyPr wrap="square" lIns="73152" rIns="73152" tIns="36576" bIns="36576" anchor="t">
            <a:normAutofit/>
          </a:bodyPr>
          <a:lstStyle/>
          <a:p>
            <a:pPr algn="l">
              <a:spcAft>
                <a:spcPts val="400"/>
              </a:spcAft>
            </a:pPr>
            <a:r>
              <a:rPr sz="1600" b="1">
                <a:solidFill>
                  <a:srgbClr val="FFFFFF"/>
                </a:solidFill>
                <a:latin typeface="Calibri"/>
              </a:rPr>
              <a:t>Pre-release classification pipeline</a:t>
            </a:r>
          </a:p>
          <a:p>
            <a:pPr algn="l"/>
            <a:r>
              <a:rPr sz="1300" b="0">
                <a:solidFill>
                  <a:srgbClr val="E2E8F0"/>
                </a:solidFill>
                <a:latin typeface="Calibri"/>
              </a:rPr>
              <a:t>Predict using only information known before release</a:t>
            </a:r>
          </a:p>
        </p:txBody>
      </p:sp>
      <p:sp>
        <p:nvSpPr>
          <p:cNvPr id="13" name="Rounded Rectangle 12"/>
          <p:cNvSpPr/>
          <p:nvPr/>
        </p:nvSpPr>
        <p:spPr>
          <a:xfrm>
            <a:off x="9079992" y="1371600"/>
            <a:ext cx="2560320" cy="2103120"/>
          </a:xfrm>
          <a:prstGeom prst="roundRect">
            <a:avLst>
              <a:gd name="adj" fmla="val 5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262872" y="15544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800" b="1">
                <a:solidFill>
                  <a:srgbClr val="101827"/>
                </a:solidFill>
                <a:latin typeface="Calibri"/>
              </a:rPr>
              <a:t>4</a:t>
            </a:r>
          </a:p>
        </p:txBody>
      </p:sp>
      <p:sp>
        <p:nvSpPr>
          <p:cNvPr id="15" name="TextBox 14"/>
          <p:cNvSpPr txBox="1"/>
          <p:nvPr/>
        </p:nvSpPr>
        <p:spPr>
          <a:xfrm>
            <a:off x="9217152" y="2148840"/>
            <a:ext cx="2286000" cy="1280160"/>
          </a:xfrm>
          <a:prstGeom prst="rect">
            <a:avLst/>
          </a:prstGeom>
          <a:noFill/>
        </p:spPr>
        <p:txBody>
          <a:bodyPr wrap="square" lIns="73152" rIns="73152" tIns="36576" bIns="36576" anchor="t">
            <a:normAutofit/>
          </a:bodyPr>
          <a:lstStyle/>
          <a:p>
            <a:pPr algn="l">
              <a:spcAft>
                <a:spcPts val="400"/>
              </a:spcAft>
            </a:pPr>
            <a:r>
              <a:rPr sz="1600" b="1">
                <a:solidFill>
                  <a:srgbClr val="FFFFFF"/>
                </a:solidFill>
                <a:latin typeface="Calibri"/>
              </a:rPr>
              <a:t>Compare algorithms and imbalance strategies</a:t>
            </a:r>
          </a:p>
          <a:p>
            <a:pPr algn="l"/>
            <a:r>
              <a:rPr sz="1300" b="0">
                <a:solidFill>
                  <a:srgbClr val="E2E8F0"/>
                </a:solidFill>
                <a:latin typeface="Calibri"/>
              </a:rPr>
              <a:t>14 algorithms, 42 configurations</a:t>
            </a:r>
          </a:p>
        </p:txBody>
      </p:sp>
      <p:sp>
        <p:nvSpPr>
          <p:cNvPr id="16" name="Rounded Rectangle 15"/>
          <p:cNvSpPr/>
          <p:nvPr/>
        </p:nvSpPr>
        <p:spPr>
          <a:xfrm>
            <a:off x="548640" y="3703320"/>
            <a:ext cx="3749039" cy="2103120"/>
          </a:xfrm>
          <a:prstGeom prst="roundRect">
            <a:avLst>
              <a:gd name="adj" fmla="val 5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38862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800" b="1">
                <a:solidFill>
                  <a:srgbClr val="101827"/>
                </a:solidFill>
                <a:latin typeface="Calibri"/>
              </a:rPr>
              <a:t>5</a:t>
            </a:r>
          </a:p>
        </p:txBody>
      </p:sp>
      <p:sp>
        <p:nvSpPr>
          <p:cNvPr id="18" name="TextBox 17"/>
          <p:cNvSpPr txBox="1"/>
          <p:nvPr/>
        </p:nvSpPr>
        <p:spPr>
          <a:xfrm>
            <a:off x="685800" y="4480559"/>
            <a:ext cx="3474720" cy="1280160"/>
          </a:xfrm>
          <a:prstGeom prst="rect">
            <a:avLst/>
          </a:prstGeom>
          <a:noFill/>
        </p:spPr>
        <p:txBody>
          <a:bodyPr wrap="square" lIns="73152" rIns="73152" tIns="36576" bIns="36576" anchor="t">
            <a:normAutofit/>
          </a:bodyPr>
          <a:lstStyle/>
          <a:p>
            <a:pPr algn="l">
              <a:spcAft>
                <a:spcPts val="400"/>
              </a:spcAft>
            </a:pPr>
            <a:r>
              <a:rPr sz="1600" b="1">
                <a:solidFill>
                  <a:srgbClr val="FFFFFF"/>
                </a:solidFill>
                <a:latin typeface="Calibri"/>
              </a:rPr>
              <a:t>Evaluate honestly</a:t>
            </a:r>
          </a:p>
          <a:p>
            <a:pPr algn="l"/>
            <a:r>
              <a:rPr sz="1300" b="0">
                <a:solidFill>
                  <a:srgbClr val="E2E8F0"/>
                </a:solidFill>
                <a:latin typeface="Calibri"/>
              </a:rPr>
              <a:t>Accuracy, Macro F1 and Balanced Accuracy</a:t>
            </a:r>
          </a:p>
        </p:txBody>
      </p:sp>
      <p:sp>
        <p:nvSpPr>
          <p:cNvPr id="19" name="Rounded Rectangle 18"/>
          <p:cNvSpPr/>
          <p:nvPr/>
        </p:nvSpPr>
        <p:spPr>
          <a:xfrm>
            <a:off x="4581144" y="3703320"/>
            <a:ext cx="3749039" cy="2103120"/>
          </a:xfrm>
          <a:prstGeom prst="roundRect">
            <a:avLst>
              <a:gd name="adj" fmla="val 5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764024" y="38862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800" b="1">
                <a:solidFill>
                  <a:srgbClr val="3B82F6"/>
                </a:solidFill>
                <a:latin typeface="Calibri"/>
              </a:rPr>
              <a:t>6</a:t>
            </a:r>
          </a:p>
        </p:txBody>
      </p:sp>
      <p:sp>
        <p:nvSpPr>
          <p:cNvPr id="21" name="TextBox 20"/>
          <p:cNvSpPr txBox="1"/>
          <p:nvPr/>
        </p:nvSpPr>
        <p:spPr>
          <a:xfrm>
            <a:off x="4718304" y="4480559"/>
            <a:ext cx="3474720" cy="1280160"/>
          </a:xfrm>
          <a:prstGeom prst="rect">
            <a:avLst/>
          </a:prstGeom>
          <a:noFill/>
        </p:spPr>
        <p:txBody>
          <a:bodyPr wrap="square" lIns="73152" rIns="73152" tIns="36576" bIns="36576" anchor="t">
            <a:normAutofit/>
          </a:bodyPr>
          <a:lstStyle/>
          <a:p>
            <a:pPr algn="l">
              <a:spcAft>
                <a:spcPts val="400"/>
              </a:spcAft>
            </a:pPr>
            <a:r>
              <a:rPr sz="1600" b="1">
                <a:solidFill>
                  <a:srgbClr val="FFFFFF"/>
                </a:solidFill>
                <a:latin typeface="Calibri"/>
              </a:rPr>
              <a:t>Interactive prediction application</a:t>
            </a:r>
          </a:p>
          <a:p>
            <a:pPr algn="l"/>
            <a:r>
              <a:rPr sz="1300" b="0">
                <a:solidFill>
                  <a:srgbClr val="E2E8F0"/>
                </a:solidFill>
                <a:latin typeface="Calibri"/>
              </a:rPr>
              <a:t>FastAPI backend with a React frontend</a:t>
            </a:r>
          </a:p>
        </p:txBody>
      </p:sp>
      <p:sp>
        <p:nvSpPr>
          <p:cNvPr id="22" name="Rounded Rectangle 21"/>
          <p:cNvSpPr/>
          <p:nvPr/>
        </p:nvSpPr>
        <p:spPr>
          <a:xfrm>
            <a:off x="8613648" y="3703320"/>
            <a:ext cx="3026664" cy="2103120"/>
          </a:xfrm>
          <a:prstGeom prst="roundRect">
            <a:avLst>
              <a:gd name="adj" fmla="val 5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796528" y="38862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800" b="1">
                <a:solidFill>
                  <a:srgbClr val="8B5CF6"/>
                </a:solidFill>
                <a:latin typeface="Calibri"/>
              </a:rPr>
              <a:t>7</a:t>
            </a:r>
          </a:p>
        </p:txBody>
      </p:sp>
      <p:sp>
        <p:nvSpPr>
          <p:cNvPr id="24" name="TextBox 23"/>
          <p:cNvSpPr txBox="1"/>
          <p:nvPr/>
        </p:nvSpPr>
        <p:spPr>
          <a:xfrm>
            <a:off x="8750808" y="4480559"/>
            <a:ext cx="2752344" cy="1280160"/>
          </a:xfrm>
          <a:prstGeom prst="rect">
            <a:avLst/>
          </a:prstGeom>
          <a:noFill/>
        </p:spPr>
        <p:txBody>
          <a:bodyPr wrap="square" lIns="73152" rIns="73152" tIns="36576" bIns="36576" anchor="t">
            <a:normAutofit/>
          </a:bodyPr>
          <a:lstStyle/>
          <a:p>
            <a:pPr algn="l">
              <a:spcAft>
                <a:spcPts val="400"/>
              </a:spcAft>
            </a:pPr>
            <a:r>
              <a:rPr sz="1600" b="1">
                <a:solidFill>
                  <a:srgbClr val="FFFFFF"/>
                </a:solidFill>
                <a:latin typeface="Calibri"/>
              </a:rPr>
              <a:t>Agentic AI extension</a:t>
            </a:r>
          </a:p>
          <a:p>
            <a:pPr algn="l"/>
            <a:r>
              <a:rPr sz="1300" b="0">
                <a:solidFill>
                  <a:srgbClr val="E2E8F0"/>
                </a:solidFill>
                <a:latin typeface="Calibri"/>
              </a:rPr>
              <a:t>AI Movie Researcher and AI Assistant</a:t>
            </a:r>
          </a:p>
        </p:txBody>
      </p:sp>
      <p:sp>
        <p:nvSpPr>
          <p:cNvPr id="25" name="TextBox 24"/>
          <p:cNvSpPr txBox="1"/>
          <p:nvPr/>
        </p:nvSpPr>
        <p:spPr>
          <a:xfrm>
            <a:off x="548640" y="5870448"/>
            <a:ext cx="10972800" cy="274320"/>
          </a:xfrm>
          <a:prstGeom prst="rect">
            <a:avLst/>
          </a:prstGeom>
          <a:noFill/>
        </p:spPr>
        <p:txBody>
          <a:bodyPr wrap="square" lIns="0" rIns="0" tIns="36576" bIns="36576" anchor="t">
            <a:normAutofit/>
          </a:bodyPr>
          <a:lstStyle/>
          <a:p>
            <a:pPr algn="l"/>
            <a:r>
              <a:rPr sz="1200" b="0">
                <a:solidFill>
                  <a:srgbClr val="475569"/>
                </a:solidFill>
                <a:latin typeface="Calibri"/>
              </a:rPr>
              <a:t>Objectives 1–5: machine learning core   ·   6: application   ·   7: advanced extension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Dataset: Imbalance Is the Central Challenge</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04 · DATASET</a:t>
            </a:r>
          </a:p>
        </p:txBody>
      </p:sp>
      <p:sp>
        <p:nvSpPr>
          <p:cNvPr id="4" name="Rounded Rectangle 3"/>
          <p:cNvSpPr/>
          <p:nvPr/>
        </p:nvSpPr>
        <p:spPr>
          <a:xfrm>
            <a:off x="548640" y="1280160"/>
            <a:ext cx="2606040" cy="86868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98448"/>
            <a:ext cx="2423160" cy="502920"/>
          </a:xfrm>
          <a:prstGeom prst="rect">
            <a:avLst/>
          </a:prstGeom>
          <a:noFill/>
        </p:spPr>
        <p:txBody>
          <a:bodyPr wrap="square" lIns="73152" rIns="73152" tIns="36576" bIns="36576" anchor="ctr">
            <a:normAutofit/>
          </a:bodyPr>
          <a:lstStyle/>
          <a:p>
            <a:pPr algn="l"/>
            <a:r>
              <a:rPr sz="2800" b="1">
                <a:solidFill>
                  <a:srgbClr val="FFFFFF"/>
                </a:solidFill>
                <a:latin typeface="Calibri"/>
              </a:rPr>
              <a:t>5,043</a:t>
            </a:r>
          </a:p>
        </p:txBody>
      </p:sp>
      <p:sp>
        <p:nvSpPr>
          <p:cNvPr id="6" name="TextBox 5"/>
          <p:cNvSpPr txBox="1"/>
          <p:nvPr/>
        </p:nvSpPr>
        <p:spPr>
          <a:xfrm>
            <a:off x="640080" y="1773936"/>
            <a:ext cx="2423160" cy="320040"/>
          </a:xfrm>
          <a:prstGeom prst="rect">
            <a:avLst/>
          </a:prstGeom>
          <a:noFill/>
        </p:spPr>
        <p:txBody>
          <a:bodyPr wrap="square" lIns="73152" rIns="73152" tIns="36576" bIns="36576" anchor="t">
            <a:normAutofit/>
          </a:bodyPr>
          <a:lstStyle/>
          <a:p>
            <a:pPr algn="l"/>
            <a:r>
              <a:rPr sz="1300" b="0">
                <a:solidFill>
                  <a:srgbClr val="22D3EE"/>
                </a:solidFill>
                <a:latin typeface="Calibri"/>
              </a:rPr>
              <a:t>raw records</a:t>
            </a:r>
          </a:p>
        </p:txBody>
      </p:sp>
      <p:sp>
        <p:nvSpPr>
          <p:cNvPr id="7" name="Rounded Rectangle 6"/>
          <p:cNvSpPr/>
          <p:nvPr/>
        </p:nvSpPr>
        <p:spPr>
          <a:xfrm>
            <a:off x="3374136" y="1280160"/>
            <a:ext cx="2606040" cy="86868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65576" y="1298448"/>
            <a:ext cx="2423160" cy="502920"/>
          </a:xfrm>
          <a:prstGeom prst="rect">
            <a:avLst/>
          </a:prstGeom>
          <a:noFill/>
        </p:spPr>
        <p:txBody>
          <a:bodyPr wrap="square" lIns="73152" rIns="73152" tIns="36576" bIns="36576" anchor="ctr">
            <a:normAutofit/>
          </a:bodyPr>
          <a:lstStyle/>
          <a:p>
            <a:pPr algn="l"/>
            <a:r>
              <a:rPr sz="2800" b="1">
                <a:solidFill>
                  <a:srgbClr val="FFFFFF"/>
                </a:solidFill>
                <a:latin typeface="Calibri"/>
              </a:rPr>
              <a:t>28</a:t>
            </a:r>
          </a:p>
        </p:txBody>
      </p:sp>
      <p:sp>
        <p:nvSpPr>
          <p:cNvPr id="9" name="TextBox 8"/>
          <p:cNvSpPr txBox="1"/>
          <p:nvPr/>
        </p:nvSpPr>
        <p:spPr>
          <a:xfrm>
            <a:off x="3465576" y="1773936"/>
            <a:ext cx="2423160" cy="320040"/>
          </a:xfrm>
          <a:prstGeom prst="rect">
            <a:avLst/>
          </a:prstGeom>
          <a:noFill/>
        </p:spPr>
        <p:txBody>
          <a:bodyPr wrap="square" lIns="73152" rIns="73152" tIns="36576" bIns="36576" anchor="t">
            <a:normAutofit/>
          </a:bodyPr>
          <a:lstStyle/>
          <a:p>
            <a:pPr algn="l"/>
            <a:r>
              <a:rPr sz="1300" b="0">
                <a:solidFill>
                  <a:srgbClr val="22D3EE"/>
                </a:solidFill>
                <a:latin typeface="Calibri"/>
              </a:rPr>
              <a:t>original columns</a:t>
            </a:r>
          </a:p>
        </p:txBody>
      </p:sp>
      <p:sp>
        <p:nvSpPr>
          <p:cNvPr id="10" name="Rounded Rectangle 9"/>
          <p:cNvSpPr/>
          <p:nvPr/>
        </p:nvSpPr>
        <p:spPr>
          <a:xfrm>
            <a:off x="6199631" y="1280160"/>
            <a:ext cx="2606040" cy="86868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1" y="1298448"/>
            <a:ext cx="2423160" cy="502920"/>
          </a:xfrm>
          <a:prstGeom prst="rect">
            <a:avLst/>
          </a:prstGeom>
          <a:noFill/>
        </p:spPr>
        <p:txBody>
          <a:bodyPr wrap="square" lIns="73152" rIns="73152" tIns="36576" bIns="36576" anchor="ctr">
            <a:normAutofit/>
          </a:bodyPr>
          <a:lstStyle/>
          <a:p>
            <a:pPr algn="l"/>
            <a:r>
              <a:rPr sz="2800" b="1">
                <a:solidFill>
                  <a:srgbClr val="FFFFFF"/>
                </a:solidFill>
                <a:latin typeface="Calibri"/>
              </a:rPr>
              <a:t>4,919</a:t>
            </a:r>
          </a:p>
        </p:txBody>
      </p:sp>
      <p:sp>
        <p:nvSpPr>
          <p:cNvPr id="12" name="TextBox 11"/>
          <p:cNvSpPr txBox="1"/>
          <p:nvPr/>
        </p:nvSpPr>
        <p:spPr>
          <a:xfrm>
            <a:off x="6291071" y="1773936"/>
            <a:ext cx="2423160" cy="320040"/>
          </a:xfrm>
          <a:prstGeom prst="rect">
            <a:avLst/>
          </a:prstGeom>
          <a:noFill/>
        </p:spPr>
        <p:txBody>
          <a:bodyPr wrap="square" lIns="73152" rIns="73152" tIns="36576" bIns="36576" anchor="t">
            <a:normAutofit/>
          </a:bodyPr>
          <a:lstStyle/>
          <a:p>
            <a:pPr algn="l"/>
            <a:r>
              <a:rPr sz="1300" b="0">
                <a:solidFill>
                  <a:srgbClr val="22D3EE"/>
                </a:solidFill>
                <a:latin typeface="Calibri"/>
              </a:rPr>
              <a:t>cleaned films</a:t>
            </a:r>
          </a:p>
        </p:txBody>
      </p:sp>
      <p:sp>
        <p:nvSpPr>
          <p:cNvPr id="13" name="Rounded Rectangle 12"/>
          <p:cNvSpPr/>
          <p:nvPr/>
        </p:nvSpPr>
        <p:spPr>
          <a:xfrm>
            <a:off x="9025128" y="1280160"/>
            <a:ext cx="2606040" cy="86868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16567" y="1298448"/>
            <a:ext cx="2423160" cy="502920"/>
          </a:xfrm>
          <a:prstGeom prst="rect">
            <a:avLst/>
          </a:prstGeom>
          <a:noFill/>
        </p:spPr>
        <p:txBody>
          <a:bodyPr wrap="square" lIns="73152" rIns="73152" tIns="36576" bIns="36576" anchor="ctr">
            <a:normAutofit/>
          </a:bodyPr>
          <a:lstStyle/>
          <a:p>
            <a:pPr algn="l"/>
            <a:r>
              <a:rPr sz="2800" b="1">
                <a:solidFill>
                  <a:srgbClr val="FFFFFF"/>
                </a:solidFill>
                <a:latin typeface="Calibri"/>
              </a:rPr>
              <a:t>9</a:t>
            </a:r>
          </a:p>
        </p:txBody>
      </p:sp>
      <p:sp>
        <p:nvSpPr>
          <p:cNvPr id="15" name="TextBox 14"/>
          <p:cNvSpPr txBox="1"/>
          <p:nvPr/>
        </p:nvSpPr>
        <p:spPr>
          <a:xfrm>
            <a:off x="9116567" y="1773936"/>
            <a:ext cx="2423160" cy="320040"/>
          </a:xfrm>
          <a:prstGeom prst="rect">
            <a:avLst/>
          </a:prstGeom>
          <a:noFill/>
        </p:spPr>
        <p:txBody>
          <a:bodyPr wrap="square" lIns="73152" rIns="73152" tIns="36576" bIns="36576" anchor="t">
            <a:normAutofit/>
          </a:bodyPr>
          <a:lstStyle/>
          <a:p>
            <a:pPr algn="l"/>
            <a:r>
              <a:rPr sz="1300" b="0">
                <a:solidFill>
                  <a:srgbClr val="22D3EE"/>
                </a:solidFill>
                <a:latin typeface="Calibri"/>
              </a:rPr>
              <a:t>pre-release inputs</a:t>
            </a:r>
          </a:p>
        </p:txBody>
      </p:sp>
      <p:sp>
        <p:nvSpPr>
          <p:cNvPr id="16" name="TextBox 15"/>
          <p:cNvSpPr txBox="1"/>
          <p:nvPr/>
        </p:nvSpPr>
        <p:spPr>
          <a:xfrm>
            <a:off x="548640" y="2286000"/>
            <a:ext cx="4480560" cy="320040"/>
          </a:xfrm>
          <a:prstGeom prst="rect">
            <a:avLst/>
          </a:prstGeom>
          <a:noFill/>
        </p:spPr>
        <p:txBody>
          <a:bodyPr wrap="square" lIns="0" rIns="0" tIns="36576" bIns="36576" anchor="t">
            <a:normAutofit/>
          </a:bodyPr>
          <a:lstStyle/>
          <a:p>
            <a:pPr algn="l"/>
            <a:r>
              <a:rPr sz="1500" b="1">
                <a:solidFill>
                  <a:srgbClr val="161A3E"/>
                </a:solidFill>
                <a:latin typeface="Calibri"/>
              </a:rPr>
              <a:t>Class distribution by IMDb score band</a:t>
            </a:r>
          </a:p>
        </p:txBody>
      </p:sp>
      <p:graphicFrame>
        <p:nvGraphicFramePr>
          <p:cNvPr id="17" name="Chart 16"/>
          <p:cNvGraphicFramePr>
            <a:graphicFrameLocks noGrp="1"/>
          </p:cNvGraphicFramePr>
          <p:nvPr/>
        </p:nvGraphicFramePr>
        <p:xfrm>
          <a:off x="457200" y="2606040"/>
          <a:ext cx="4572000" cy="2926080"/>
        </p:xfrm>
        <a:graphic>
          <a:graphicData uri="http://schemas.openxmlformats.org/drawingml/2006/chart">
            <c:chart xmlns:c="http://schemas.openxmlformats.org/drawingml/2006/chart" r:id="rId2"/>
          </a:graphicData>
        </a:graphic>
      </p:graphicFrame>
      <p:sp>
        <p:nvSpPr>
          <p:cNvPr id="18" name="Rounded Rectangle 17"/>
          <p:cNvSpPr/>
          <p:nvPr/>
        </p:nvSpPr>
        <p:spPr>
          <a:xfrm>
            <a:off x="548640" y="5532120"/>
            <a:ext cx="4480560" cy="457200"/>
          </a:xfrm>
          <a:prstGeom prst="roundRect">
            <a:avLst>
              <a:gd name="adj" fmla="val 1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l"/>
            <a:r>
              <a:rPr sz="1200" b="1">
                <a:solidFill>
                  <a:srgbClr val="78350F"/>
                </a:solidFill>
                <a:latin typeface="Calibri"/>
              </a:rPr>
              <a:t>Only 41 Flops </a:t>
            </a:r>
            <a:r>
              <a:rPr sz="1200" b="0">
                <a:solidFill>
                  <a:srgbClr val="78350F"/>
                </a:solidFill>
                <a:latin typeface="Calibri"/>
              </a:rPr>
              <a:t>(0.8%): a model can ignore them and still look accurate</a:t>
            </a:r>
          </a:p>
        </p:txBody>
      </p:sp>
      <p:sp>
        <p:nvSpPr>
          <p:cNvPr id="19" name="TextBox 18"/>
          <p:cNvSpPr txBox="1"/>
          <p:nvPr/>
        </p:nvSpPr>
        <p:spPr>
          <a:xfrm>
            <a:off x="5257800" y="2286000"/>
            <a:ext cx="3017520" cy="320040"/>
          </a:xfrm>
          <a:prstGeom prst="rect">
            <a:avLst/>
          </a:prstGeom>
          <a:noFill/>
        </p:spPr>
        <p:txBody>
          <a:bodyPr wrap="square" lIns="0" rIns="0" tIns="36576" bIns="36576" anchor="t">
            <a:normAutofit/>
          </a:bodyPr>
          <a:lstStyle/>
          <a:p>
            <a:pPr algn="l"/>
            <a:r>
              <a:rPr sz="1500" b="1">
                <a:solidFill>
                  <a:srgbClr val="161A3E"/>
                </a:solidFill>
                <a:latin typeface="Calibri"/>
              </a:rPr>
              <a:t>Class share</a:t>
            </a:r>
          </a:p>
        </p:txBody>
      </p:sp>
      <p:graphicFrame>
        <p:nvGraphicFramePr>
          <p:cNvPr id="20" name="Chart 19"/>
          <p:cNvGraphicFramePr>
            <a:graphicFrameLocks noGrp="1"/>
          </p:cNvGraphicFramePr>
          <p:nvPr/>
        </p:nvGraphicFramePr>
        <p:xfrm>
          <a:off x="5166360" y="2606040"/>
          <a:ext cx="3108960" cy="2240280"/>
        </p:xfrm>
        <a:graphic>
          <a:graphicData uri="http://schemas.openxmlformats.org/drawingml/2006/chart">
            <c:chart xmlns:c="http://schemas.openxmlformats.org/drawingml/2006/chart" r:id="rId3"/>
          </a:graphicData>
        </a:graphic>
      </p:graphicFrame>
      <p:sp>
        <p:nvSpPr>
          <p:cNvPr id="21" name="TextBox 20"/>
          <p:cNvSpPr txBox="1"/>
          <p:nvPr/>
        </p:nvSpPr>
        <p:spPr>
          <a:xfrm>
            <a:off x="5989320" y="3383280"/>
            <a:ext cx="1463040" cy="731520"/>
          </a:xfrm>
          <a:prstGeom prst="rect">
            <a:avLst/>
          </a:prstGeom>
          <a:noFill/>
        </p:spPr>
        <p:txBody>
          <a:bodyPr wrap="square" lIns="73152" rIns="73152" tIns="36576" bIns="36576" anchor="ctr">
            <a:normAutofit/>
          </a:bodyPr>
          <a:lstStyle/>
          <a:p>
            <a:pPr algn="ctr"/>
            <a:r>
              <a:rPr sz="2000" b="1">
                <a:solidFill>
                  <a:srgbClr val="161A3E"/>
                </a:solidFill>
                <a:latin typeface="Calibri"/>
              </a:rPr>
              <a:t>4,919</a:t>
            </a:r>
          </a:p>
          <a:p>
            <a:pPr algn="ctr"/>
            <a:r>
              <a:rPr sz="1200" b="0">
                <a:solidFill>
                  <a:srgbClr val="475569"/>
                </a:solidFill>
                <a:latin typeface="Calibri"/>
              </a:rPr>
              <a:t>films</a:t>
            </a:r>
          </a:p>
        </p:txBody>
      </p:sp>
      <p:sp>
        <p:nvSpPr>
          <p:cNvPr id="22" name="Rectangle 21"/>
          <p:cNvSpPr/>
          <p:nvPr/>
        </p:nvSpPr>
        <p:spPr>
          <a:xfrm>
            <a:off x="5349240" y="5010912"/>
            <a:ext cx="182880" cy="18288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3560" y="4937760"/>
            <a:ext cx="2743200" cy="320040"/>
          </a:xfrm>
          <a:prstGeom prst="rect">
            <a:avLst/>
          </a:prstGeom>
          <a:noFill/>
        </p:spPr>
        <p:txBody>
          <a:bodyPr wrap="square" lIns="73152" rIns="73152" tIns="36576" bIns="36576" anchor="ctr">
            <a:normAutofit/>
          </a:bodyPr>
          <a:lstStyle/>
          <a:p>
            <a:pPr algn="l"/>
            <a:r>
              <a:rPr sz="1300" b="1">
                <a:solidFill>
                  <a:srgbClr val="161A3E"/>
                </a:solidFill>
                <a:latin typeface="Calibri"/>
              </a:rPr>
              <a:t>Hit (≥ 6)  </a:t>
            </a:r>
            <a:r>
              <a:rPr sz="1300" b="0">
                <a:solidFill>
                  <a:srgbClr val="161A3E"/>
                </a:solidFill>
                <a:latin typeface="Calibri"/>
              </a:rPr>
              <a:t>71.1%</a:t>
            </a:r>
          </a:p>
        </p:txBody>
      </p:sp>
      <p:sp>
        <p:nvSpPr>
          <p:cNvPr id="24" name="Rectangle 23"/>
          <p:cNvSpPr/>
          <p:nvPr/>
        </p:nvSpPr>
        <p:spPr>
          <a:xfrm>
            <a:off x="5349240" y="5349240"/>
            <a:ext cx="182880" cy="1828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23560" y="5276088"/>
            <a:ext cx="2743200" cy="320040"/>
          </a:xfrm>
          <a:prstGeom prst="rect">
            <a:avLst/>
          </a:prstGeom>
          <a:noFill/>
        </p:spPr>
        <p:txBody>
          <a:bodyPr wrap="square" lIns="73152" rIns="73152" tIns="36576" bIns="36576" anchor="ctr">
            <a:normAutofit/>
          </a:bodyPr>
          <a:lstStyle/>
          <a:p>
            <a:pPr algn="l"/>
            <a:r>
              <a:rPr sz="1300" b="1">
                <a:solidFill>
                  <a:srgbClr val="161A3E"/>
                </a:solidFill>
                <a:latin typeface="Calibri"/>
              </a:rPr>
              <a:t>Average (3 to &lt; 6)  </a:t>
            </a:r>
            <a:r>
              <a:rPr sz="1300" b="0">
                <a:solidFill>
                  <a:srgbClr val="161A3E"/>
                </a:solidFill>
                <a:latin typeface="Calibri"/>
              </a:rPr>
              <a:t>28.1%</a:t>
            </a:r>
          </a:p>
        </p:txBody>
      </p:sp>
      <p:sp>
        <p:nvSpPr>
          <p:cNvPr id="26" name="Rectangle 25"/>
          <p:cNvSpPr/>
          <p:nvPr/>
        </p:nvSpPr>
        <p:spPr>
          <a:xfrm>
            <a:off x="5349240" y="5687568"/>
            <a:ext cx="182880" cy="182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23560" y="5614416"/>
            <a:ext cx="2743200" cy="320040"/>
          </a:xfrm>
          <a:prstGeom prst="rect">
            <a:avLst/>
          </a:prstGeom>
          <a:noFill/>
        </p:spPr>
        <p:txBody>
          <a:bodyPr wrap="square" lIns="73152" rIns="73152" tIns="36576" bIns="36576" anchor="ctr">
            <a:normAutofit/>
          </a:bodyPr>
          <a:lstStyle/>
          <a:p>
            <a:pPr algn="l"/>
            <a:r>
              <a:rPr sz="1300" b="1">
                <a:solidFill>
                  <a:srgbClr val="161A3E"/>
                </a:solidFill>
                <a:latin typeface="Calibri"/>
              </a:rPr>
              <a:t>Flop (&lt; 3)  </a:t>
            </a:r>
            <a:r>
              <a:rPr sz="1300" b="0">
                <a:solidFill>
                  <a:srgbClr val="161A3E"/>
                </a:solidFill>
                <a:latin typeface="Calibri"/>
              </a:rPr>
              <a:t>0.8%</a:t>
            </a:r>
          </a:p>
        </p:txBody>
      </p:sp>
      <p:sp>
        <p:nvSpPr>
          <p:cNvPr id="28" name="TextBox 27"/>
          <p:cNvSpPr txBox="1"/>
          <p:nvPr/>
        </p:nvSpPr>
        <p:spPr>
          <a:xfrm>
            <a:off x="8503920" y="2286000"/>
            <a:ext cx="3136392" cy="320040"/>
          </a:xfrm>
          <a:prstGeom prst="rect">
            <a:avLst/>
          </a:prstGeom>
          <a:noFill/>
        </p:spPr>
        <p:txBody>
          <a:bodyPr wrap="square" lIns="0" rIns="0" tIns="36576" bIns="36576" anchor="t">
            <a:normAutofit/>
          </a:bodyPr>
          <a:lstStyle/>
          <a:p>
            <a:pPr algn="l"/>
            <a:r>
              <a:rPr sz="1500" b="1">
                <a:solidFill>
                  <a:srgbClr val="161A3E"/>
                </a:solidFill>
                <a:latin typeface="Calibri"/>
              </a:rPr>
              <a:t>Nine pre-release inputs</a:t>
            </a:r>
          </a:p>
        </p:txBody>
      </p:sp>
      <p:sp>
        <p:nvSpPr>
          <p:cNvPr id="29" name="TextBox 28"/>
          <p:cNvSpPr txBox="1"/>
          <p:nvPr/>
        </p:nvSpPr>
        <p:spPr>
          <a:xfrm>
            <a:off x="8503920" y="2697480"/>
            <a:ext cx="3108960" cy="274320"/>
          </a:xfrm>
          <a:prstGeom prst="rect">
            <a:avLst/>
          </a:prstGeom>
          <a:noFill/>
        </p:spPr>
        <p:txBody>
          <a:bodyPr wrap="square" lIns="73152" rIns="73152" tIns="36576" bIns="36576" anchor="t">
            <a:normAutofit/>
          </a:bodyPr>
          <a:lstStyle/>
          <a:p>
            <a:pPr algn="l"/>
            <a:r>
              <a:rPr sz="1100" b="1">
                <a:solidFill>
                  <a:srgbClr val="3B82F6"/>
                </a:solidFill>
                <a:latin typeface="Calibri"/>
              </a:rPr>
              <a:t>NUMERIC</a:t>
            </a:r>
          </a:p>
        </p:txBody>
      </p:sp>
      <p:sp>
        <p:nvSpPr>
          <p:cNvPr id="30" name="Rounded Rectangle 29"/>
          <p:cNvSpPr/>
          <p:nvPr/>
        </p:nvSpPr>
        <p:spPr>
          <a:xfrm>
            <a:off x="8503920" y="2990088"/>
            <a:ext cx="1499616" cy="365760"/>
          </a:xfrm>
          <a:prstGeom prst="roundRect">
            <a:avLst>
              <a:gd name="adj" fmla="val 30000"/>
            </a:avLst>
          </a:prstGeom>
          <a:solidFill>
            <a:srgbClr val="F1F5F9"/>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Budget</a:t>
            </a:r>
          </a:p>
        </p:txBody>
      </p:sp>
      <p:sp>
        <p:nvSpPr>
          <p:cNvPr id="31" name="Rounded Rectangle 30"/>
          <p:cNvSpPr/>
          <p:nvPr/>
        </p:nvSpPr>
        <p:spPr>
          <a:xfrm>
            <a:off x="10094976" y="2990088"/>
            <a:ext cx="1499616" cy="365760"/>
          </a:xfrm>
          <a:prstGeom prst="roundRect">
            <a:avLst>
              <a:gd name="adj" fmla="val 30000"/>
            </a:avLst>
          </a:prstGeom>
          <a:solidFill>
            <a:srgbClr val="F1F5F9"/>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Duration</a:t>
            </a:r>
          </a:p>
        </p:txBody>
      </p:sp>
      <p:sp>
        <p:nvSpPr>
          <p:cNvPr id="32" name="Rounded Rectangle 31"/>
          <p:cNvSpPr/>
          <p:nvPr/>
        </p:nvSpPr>
        <p:spPr>
          <a:xfrm>
            <a:off x="8503920" y="3447288"/>
            <a:ext cx="1499616" cy="365760"/>
          </a:xfrm>
          <a:prstGeom prst="roundRect">
            <a:avLst>
              <a:gd name="adj" fmla="val 30000"/>
            </a:avLst>
          </a:prstGeom>
          <a:solidFill>
            <a:srgbClr val="F1F5F9"/>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Release Year</a:t>
            </a:r>
          </a:p>
        </p:txBody>
      </p:sp>
      <p:sp>
        <p:nvSpPr>
          <p:cNvPr id="33" name="Rounded Rectangle 32"/>
          <p:cNvSpPr/>
          <p:nvPr/>
        </p:nvSpPr>
        <p:spPr>
          <a:xfrm>
            <a:off x="10094976" y="3447288"/>
            <a:ext cx="1499616" cy="365760"/>
          </a:xfrm>
          <a:prstGeom prst="roundRect">
            <a:avLst>
              <a:gd name="adj" fmla="val 30000"/>
            </a:avLst>
          </a:prstGeom>
          <a:solidFill>
            <a:srgbClr val="F1F5F9"/>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Aspect Ratio</a:t>
            </a:r>
          </a:p>
        </p:txBody>
      </p:sp>
      <p:sp>
        <p:nvSpPr>
          <p:cNvPr id="34" name="TextBox 33"/>
          <p:cNvSpPr txBox="1"/>
          <p:nvPr/>
        </p:nvSpPr>
        <p:spPr>
          <a:xfrm>
            <a:off x="8503920" y="4069080"/>
            <a:ext cx="3108960" cy="274320"/>
          </a:xfrm>
          <a:prstGeom prst="rect">
            <a:avLst/>
          </a:prstGeom>
          <a:noFill/>
        </p:spPr>
        <p:txBody>
          <a:bodyPr wrap="square" lIns="73152" rIns="73152" tIns="36576" bIns="36576" anchor="t">
            <a:normAutofit/>
          </a:bodyPr>
          <a:lstStyle/>
          <a:p>
            <a:pPr algn="l"/>
            <a:r>
              <a:rPr sz="1100" b="1">
                <a:solidFill>
                  <a:srgbClr val="8B5CF6"/>
                </a:solidFill>
                <a:latin typeface="Calibri"/>
              </a:rPr>
              <a:t>CATEGORICAL</a:t>
            </a:r>
          </a:p>
        </p:txBody>
      </p:sp>
      <p:sp>
        <p:nvSpPr>
          <p:cNvPr id="35" name="Rounded Rectangle 34"/>
          <p:cNvSpPr/>
          <p:nvPr/>
        </p:nvSpPr>
        <p:spPr>
          <a:xfrm>
            <a:off x="8503920" y="4361688"/>
            <a:ext cx="1499616" cy="365760"/>
          </a:xfrm>
          <a:prstGeom prst="roundRect">
            <a:avLst>
              <a:gd name="adj" fmla="val 30000"/>
            </a:avLst>
          </a:prstGeom>
          <a:solidFill>
            <a:srgbClr val="F1F5F9"/>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Genres</a:t>
            </a:r>
          </a:p>
        </p:txBody>
      </p:sp>
      <p:sp>
        <p:nvSpPr>
          <p:cNvPr id="36" name="Rounded Rectangle 35"/>
          <p:cNvSpPr/>
          <p:nvPr/>
        </p:nvSpPr>
        <p:spPr>
          <a:xfrm>
            <a:off x="10094976" y="4361688"/>
            <a:ext cx="1499616" cy="365760"/>
          </a:xfrm>
          <a:prstGeom prst="roundRect">
            <a:avLst>
              <a:gd name="adj" fmla="val 30000"/>
            </a:avLst>
          </a:prstGeom>
          <a:solidFill>
            <a:srgbClr val="F1F5F9"/>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Country</a:t>
            </a:r>
          </a:p>
        </p:txBody>
      </p:sp>
      <p:sp>
        <p:nvSpPr>
          <p:cNvPr id="37" name="Rounded Rectangle 36"/>
          <p:cNvSpPr/>
          <p:nvPr/>
        </p:nvSpPr>
        <p:spPr>
          <a:xfrm>
            <a:off x="8503920" y="4818888"/>
            <a:ext cx="1499616" cy="365760"/>
          </a:xfrm>
          <a:prstGeom prst="roundRect">
            <a:avLst>
              <a:gd name="adj" fmla="val 30000"/>
            </a:avLst>
          </a:prstGeom>
          <a:solidFill>
            <a:srgbClr val="F1F5F9"/>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Language</a:t>
            </a:r>
          </a:p>
        </p:txBody>
      </p:sp>
      <p:sp>
        <p:nvSpPr>
          <p:cNvPr id="38" name="Rounded Rectangle 37"/>
          <p:cNvSpPr/>
          <p:nvPr/>
        </p:nvSpPr>
        <p:spPr>
          <a:xfrm>
            <a:off x="10094976" y="4818888"/>
            <a:ext cx="1499616" cy="365760"/>
          </a:xfrm>
          <a:prstGeom prst="roundRect">
            <a:avLst>
              <a:gd name="adj" fmla="val 30000"/>
            </a:avLst>
          </a:prstGeom>
          <a:solidFill>
            <a:srgbClr val="F1F5F9"/>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Content Rating</a:t>
            </a:r>
          </a:p>
        </p:txBody>
      </p:sp>
      <p:sp>
        <p:nvSpPr>
          <p:cNvPr id="39" name="Rounded Rectangle 38"/>
          <p:cNvSpPr/>
          <p:nvPr/>
        </p:nvSpPr>
        <p:spPr>
          <a:xfrm>
            <a:off x="8503920" y="5276088"/>
            <a:ext cx="1499616" cy="365760"/>
          </a:xfrm>
          <a:prstGeom prst="roundRect">
            <a:avLst>
              <a:gd name="adj" fmla="val 30000"/>
            </a:avLst>
          </a:prstGeom>
          <a:solidFill>
            <a:srgbClr val="F1F5F9"/>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normAutofit/>
          </a:bodyPr>
          <a:lstStyle/>
          <a:p>
            <a:pPr algn="ctr"/>
            <a:r>
              <a:rPr sz="1200" b="1">
                <a:solidFill>
                  <a:srgbClr val="161A3E"/>
                </a:solidFill>
                <a:latin typeface="Calibri"/>
              </a:rPr>
              <a:t>Colour</a:t>
            </a:r>
          </a:p>
        </p:txBody>
      </p:sp>
      <p:sp>
        <p:nvSpPr>
          <p:cNvPr id="40" name="TextBox 39"/>
          <p:cNvSpPr txBox="1"/>
          <p:nvPr/>
        </p:nvSpPr>
        <p:spPr>
          <a:xfrm>
            <a:off x="548640" y="6035040"/>
            <a:ext cx="10972800" cy="228600"/>
          </a:xfrm>
          <a:prstGeom prst="rect">
            <a:avLst/>
          </a:prstGeom>
          <a:noFill/>
        </p:spPr>
        <p:txBody>
          <a:bodyPr wrap="square" lIns="0" rIns="0" tIns="36576" bIns="36576" anchor="t">
            <a:normAutofit/>
          </a:bodyPr>
          <a:lstStyle/>
          <a:p>
            <a:pPr algn="l"/>
            <a:r>
              <a:rPr sz="900" b="0">
                <a:solidFill>
                  <a:srgbClr val="94A3B8"/>
                </a:solidFill>
                <a:latin typeface="Calibri"/>
              </a:rPr>
              <a:t>Source: dataset/movie_metadata.csv, cleaned with the repository rule (exact duplicates, then same title + year). Counts match docs/PRE_RELEASE_MODEL.md.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Data Preprocessing &amp; Exploratory Analysis</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05 · PREPROCESSING &amp; EDA</a:t>
            </a:r>
          </a:p>
        </p:txBody>
      </p:sp>
      <p:sp>
        <p:nvSpPr>
          <p:cNvPr id="4" name="Rounded Rectangle 3"/>
          <p:cNvSpPr/>
          <p:nvPr/>
        </p:nvSpPr>
        <p:spPr>
          <a:xfrm>
            <a:off x="548640" y="1280160"/>
            <a:ext cx="4297680" cy="4709160"/>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4023360" cy="502920"/>
          </a:xfrm>
          <a:prstGeom prst="rect">
            <a:avLst/>
          </a:prstGeom>
          <a:noFill/>
        </p:spPr>
        <p:txBody>
          <a:bodyPr wrap="square" lIns="73152" rIns="73152" tIns="36576" bIns="36576" anchor="t">
            <a:normAutofit/>
          </a:bodyPr>
          <a:lstStyle/>
          <a:p>
            <a:pPr algn="l"/>
            <a:r>
              <a:rPr sz="1600" b="1">
                <a:solidFill>
                  <a:srgbClr val="161A3E"/>
                </a:solidFill>
                <a:latin typeface="Calibri"/>
              </a:rPr>
              <a:t>Leakage-safe pipeline</a:t>
            </a:r>
          </a:p>
          <a:p>
            <a:pPr algn="l"/>
            <a:r>
              <a:rPr sz="1200" b="0">
                <a:solidFill>
                  <a:srgbClr val="475569"/>
                </a:solidFill>
                <a:latin typeface="Calibri"/>
              </a:rPr>
              <a:t>fitted on training folds only</a:t>
            </a:r>
          </a:p>
        </p:txBody>
      </p:sp>
      <p:sp>
        <p:nvSpPr>
          <p:cNvPr id="6" name="Oval 5"/>
          <p:cNvSpPr/>
          <p:nvPr/>
        </p:nvSpPr>
        <p:spPr>
          <a:xfrm>
            <a:off x="713232" y="1956816"/>
            <a:ext cx="274320" cy="27432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1</a:t>
            </a:r>
          </a:p>
        </p:txBody>
      </p:sp>
      <p:sp>
        <p:nvSpPr>
          <p:cNvPr id="7" name="TextBox 6"/>
          <p:cNvSpPr txBox="1"/>
          <p:nvPr/>
        </p:nvSpPr>
        <p:spPr>
          <a:xfrm>
            <a:off x="1069848" y="1920240"/>
            <a:ext cx="3703320" cy="347472"/>
          </a:xfrm>
          <a:prstGeom prst="rect">
            <a:avLst/>
          </a:prstGeom>
          <a:noFill/>
        </p:spPr>
        <p:txBody>
          <a:bodyPr wrap="square" lIns="27432" rIns="27432" tIns="36576" bIns="36576" anchor="ctr">
            <a:normAutofit/>
          </a:bodyPr>
          <a:lstStyle/>
          <a:p>
            <a:pPr algn="l"/>
            <a:r>
              <a:rPr sz="1250" b="0">
                <a:solidFill>
                  <a:srgbClr val="161A3E"/>
                </a:solidFill>
                <a:latin typeface="Calibri"/>
              </a:rPr>
              <a:t>Remove exact duplicates (5,043 → 4,998)</a:t>
            </a:r>
          </a:p>
        </p:txBody>
      </p:sp>
      <p:sp>
        <p:nvSpPr>
          <p:cNvPr id="8" name="Oval 7"/>
          <p:cNvSpPr/>
          <p:nvPr/>
        </p:nvSpPr>
        <p:spPr>
          <a:xfrm>
            <a:off x="713232" y="2322576"/>
            <a:ext cx="274320" cy="27432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2</a:t>
            </a:r>
          </a:p>
        </p:txBody>
      </p:sp>
      <p:sp>
        <p:nvSpPr>
          <p:cNvPr id="9" name="TextBox 8"/>
          <p:cNvSpPr txBox="1"/>
          <p:nvPr/>
        </p:nvSpPr>
        <p:spPr>
          <a:xfrm>
            <a:off x="1069848" y="2286000"/>
            <a:ext cx="3703320" cy="347472"/>
          </a:xfrm>
          <a:prstGeom prst="rect">
            <a:avLst/>
          </a:prstGeom>
          <a:noFill/>
        </p:spPr>
        <p:txBody>
          <a:bodyPr wrap="square" lIns="27432" rIns="27432" tIns="36576" bIns="36576" anchor="ctr">
            <a:normAutofit/>
          </a:bodyPr>
          <a:lstStyle/>
          <a:p>
            <a:pPr algn="l"/>
            <a:r>
              <a:rPr sz="1250" b="0">
                <a:solidFill>
                  <a:srgbClr val="161A3E"/>
                </a:solidFill>
                <a:latin typeface="Calibri"/>
              </a:rPr>
              <a:t>Remove same-film duplicates (→ 4,919)</a:t>
            </a:r>
          </a:p>
        </p:txBody>
      </p:sp>
      <p:sp>
        <p:nvSpPr>
          <p:cNvPr id="10" name="Oval 9"/>
          <p:cNvSpPr/>
          <p:nvPr/>
        </p:nvSpPr>
        <p:spPr>
          <a:xfrm>
            <a:off x="713232" y="2688336"/>
            <a:ext cx="274320" cy="27432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3</a:t>
            </a:r>
          </a:p>
        </p:txBody>
      </p:sp>
      <p:sp>
        <p:nvSpPr>
          <p:cNvPr id="11" name="TextBox 10"/>
          <p:cNvSpPr txBox="1"/>
          <p:nvPr/>
        </p:nvSpPr>
        <p:spPr>
          <a:xfrm>
            <a:off x="1069848" y="2651760"/>
            <a:ext cx="3703320" cy="347472"/>
          </a:xfrm>
          <a:prstGeom prst="rect">
            <a:avLst/>
          </a:prstGeom>
          <a:noFill/>
        </p:spPr>
        <p:txBody>
          <a:bodyPr wrap="square" lIns="27432" rIns="27432" tIns="36576" bIns="36576" anchor="ctr">
            <a:normAutofit/>
          </a:bodyPr>
          <a:lstStyle/>
          <a:p>
            <a:pPr algn="l"/>
            <a:r>
              <a:rPr sz="1250" b="0">
                <a:solidFill>
                  <a:srgbClr val="161A3E"/>
                </a:solidFill>
                <a:latin typeface="Calibri"/>
              </a:rPr>
              <a:t>Median imputation + missing-value flags</a:t>
            </a:r>
          </a:p>
        </p:txBody>
      </p:sp>
      <p:sp>
        <p:nvSpPr>
          <p:cNvPr id="12" name="Oval 11"/>
          <p:cNvSpPr/>
          <p:nvPr/>
        </p:nvSpPr>
        <p:spPr>
          <a:xfrm>
            <a:off x="713232" y="3054096"/>
            <a:ext cx="274320" cy="27432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4</a:t>
            </a:r>
          </a:p>
        </p:txBody>
      </p:sp>
      <p:sp>
        <p:nvSpPr>
          <p:cNvPr id="13" name="TextBox 12"/>
          <p:cNvSpPr txBox="1"/>
          <p:nvPr/>
        </p:nvSpPr>
        <p:spPr>
          <a:xfrm>
            <a:off x="1069848" y="3017520"/>
            <a:ext cx="3703320" cy="347472"/>
          </a:xfrm>
          <a:prstGeom prst="rect">
            <a:avLst/>
          </a:prstGeom>
          <a:noFill/>
        </p:spPr>
        <p:txBody>
          <a:bodyPr wrap="square" lIns="27432" rIns="27432" tIns="36576" bIns="36576" anchor="ctr">
            <a:normAutofit/>
          </a:bodyPr>
          <a:lstStyle/>
          <a:p>
            <a:pPr algn="l"/>
            <a:r>
              <a:rPr sz="1250" b="0">
                <a:solidFill>
                  <a:srgbClr val="161A3E"/>
                </a:solidFill>
                <a:latin typeface="Calibri"/>
              </a:rPr>
              <a:t>Budget log transform + scaling</a:t>
            </a:r>
          </a:p>
        </p:txBody>
      </p:sp>
      <p:sp>
        <p:nvSpPr>
          <p:cNvPr id="14" name="Oval 13"/>
          <p:cNvSpPr/>
          <p:nvPr/>
        </p:nvSpPr>
        <p:spPr>
          <a:xfrm>
            <a:off x="713232" y="3419856"/>
            <a:ext cx="274320" cy="27432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5</a:t>
            </a:r>
          </a:p>
        </p:txBody>
      </p:sp>
      <p:sp>
        <p:nvSpPr>
          <p:cNvPr id="15" name="TextBox 14"/>
          <p:cNvSpPr txBox="1"/>
          <p:nvPr/>
        </p:nvSpPr>
        <p:spPr>
          <a:xfrm>
            <a:off x="1069848" y="3383280"/>
            <a:ext cx="3703320" cy="347472"/>
          </a:xfrm>
          <a:prstGeom prst="rect">
            <a:avLst/>
          </a:prstGeom>
          <a:noFill/>
        </p:spPr>
        <p:txBody>
          <a:bodyPr wrap="square" lIns="27432" rIns="27432" tIns="36576" bIns="36576" anchor="ctr">
            <a:normAutofit/>
          </a:bodyPr>
          <a:lstStyle/>
          <a:p>
            <a:pPr algn="l"/>
            <a:r>
              <a:rPr sz="1250" b="0">
                <a:solidFill>
                  <a:srgbClr val="161A3E"/>
                </a:solidFill>
                <a:latin typeface="Calibri"/>
              </a:rPr>
              <a:t>Categorical encoding; missing = "Unknown"</a:t>
            </a:r>
          </a:p>
        </p:txBody>
      </p:sp>
      <p:sp>
        <p:nvSpPr>
          <p:cNvPr id="16" name="Oval 15"/>
          <p:cNvSpPr/>
          <p:nvPr/>
        </p:nvSpPr>
        <p:spPr>
          <a:xfrm>
            <a:off x="713232" y="3785615"/>
            <a:ext cx="274320" cy="27432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6</a:t>
            </a:r>
          </a:p>
        </p:txBody>
      </p:sp>
      <p:sp>
        <p:nvSpPr>
          <p:cNvPr id="17" name="TextBox 16"/>
          <p:cNvSpPr txBox="1"/>
          <p:nvPr/>
        </p:nvSpPr>
        <p:spPr>
          <a:xfrm>
            <a:off x="1069848" y="3749039"/>
            <a:ext cx="3703320" cy="347472"/>
          </a:xfrm>
          <a:prstGeom prst="rect">
            <a:avLst/>
          </a:prstGeom>
          <a:noFill/>
        </p:spPr>
        <p:txBody>
          <a:bodyPr wrap="square" lIns="27432" rIns="27432" tIns="36576" bIns="36576" anchor="ctr">
            <a:normAutofit/>
          </a:bodyPr>
          <a:lstStyle/>
          <a:p>
            <a:pPr algn="l"/>
            <a:r>
              <a:rPr sz="1250" b="0">
                <a:solidFill>
                  <a:srgbClr val="161A3E"/>
                </a:solidFill>
                <a:latin typeface="Calibri"/>
              </a:rPr>
              <a:t>Rare categories pooled together</a:t>
            </a:r>
          </a:p>
        </p:txBody>
      </p:sp>
      <p:sp>
        <p:nvSpPr>
          <p:cNvPr id="18" name="Oval 17"/>
          <p:cNvSpPr/>
          <p:nvPr/>
        </p:nvSpPr>
        <p:spPr>
          <a:xfrm>
            <a:off x="713232" y="4151376"/>
            <a:ext cx="274320" cy="27432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7</a:t>
            </a:r>
          </a:p>
        </p:txBody>
      </p:sp>
      <p:sp>
        <p:nvSpPr>
          <p:cNvPr id="19" name="TextBox 18"/>
          <p:cNvSpPr txBox="1"/>
          <p:nvPr/>
        </p:nvSpPr>
        <p:spPr>
          <a:xfrm>
            <a:off x="1069848" y="4114800"/>
            <a:ext cx="3703320" cy="347472"/>
          </a:xfrm>
          <a:prstGeom prst="rect">
            <a:avLst/>
          </a:prstGeom>
          <a:noFill/>
        </p:spPr>
        <p:txBody>
          <a:bodyPr wrap="square" lIns="27432" rIns="27432" tIns="36576" bIns="36576" anchor="ctr">
            <a:normAutofit/>
          </a:bodyPr>
          <a:lstStyle/>
          <a:p>
            <a:pPr algn="l"/>
            <a:r>
              <a:rPr sz="1250" b="0">
                <a:solidFill>
                  <a:srgbClr val="161A3E"/>
                </a:solidFill>
                <a:latin typeface="Calibri"/>
              </a:rPr>
              <a:t>Genres → separate binary flags</a:t>
            </a:r>
          </a:p>
        </p:txBody>
      </p:sp>
      <p:sp>
        <p:nvSpPr>
          <p:cNvPr id="20" name="Oval 19"/>
          <p:cNvSpPr/>
          <p:nvPr/>
        </p:nvSpPr>
        <p:spPr>
          <a:xfrm>
            <a:off x="713232" y="4517136"/>
            <a:ext cx="274320" cy="27432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8</a:t>
            </a:r>
          </a:p>
        </p:txBody>
      </p:sp>
      <p:sp>
        <p:nvSpPr>
          <p:cNvPr id="21" name="TextBox 20"/>
          <p:cNvSpPr txBox="1"/>
          <p:nvPr/>
        </p:nvSpPr>
        <p:spPr>
          <a:xfrm>
            <a:off x="1069848" y="4480560"/>
            <a:ext cx="3703320" cy="347472"/>
          </a:xfrm>
          <a:prstGeom prst="rect">
            <a:avLst/>
          </a:prstGeom>
          <a:noFill/>
        </p:spPr>
        <p:txBody>
          <a:bodyPr wrap="square" lIns="27432" rIns="27432" tIns="36576" bIns="36576" anchor="ctr">
            <a:normAutofit/>
          </a:bodyPr>
          <a:lstStyle/>
          <a:p>
            <a:pPr algn="l"/>
            <a:r>
              <a:rPr sz="1250" b="0">
                <a:solidFill>
                  <a:srgbClr val="161A3E"/>
                </a:solidFill>
                <a:latin typeface="Calibri"/>
              </a:rPr>
              <a:t>Stratified 80/20 split (3,935 / 984)</a:t>
            </a:r>
          </a:p>
        </p:txBody>
      </p:sp>
      <p:sp>
        <p:nvSpPr>
          <p:cNvPr id="22" name="Rounded Rectangle 21"/>
          <p:cNvSpPr/>
          <p:nvPr/>
        </p:nvSpPr>
        <p:spPr>
          <a:xfrm>
            <a:off x="685800" y="4937760"/>
            <a:ext cx="4023360" cy="9144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l">
              <a:spcAft>
                <a:spcPts val="200"/>
              </a:spcAft>
            </a:pPr>
            <a:r>
              <a:rPr sz="1200" b="1">
                <a:solidFill>
                  <a:srgbClr val="78350F"/>
                </a:solidFill>
                <a:latin typeface="Calibri"/>
              </a:rPr>
              <a:t>Excluded to prevent data leakage</a:t>
            </a:r>
          </a:p>
          <a:p>
            <a:pPr algn="l"/>
            <a:r>
              <a:rPr sz="1200" b="0">
                <a:solidFill>
                  <a:srgbClr val="78350F"/>
                </a:solidFill>
                <a:latin typeface="Calibri"/>
              </a:rPr>
              <a:t>Gross revenue, IMDb votes, user and critic reviews, social-media likes, plot keywords</a:t>
            </a:r>
          </a:p>
        </p:txBody>
      </p:sp>
      <p:sp>
        <p:nvSpPr>
          <p:cNvPr id="23" name="TextBox 22"/>
          <p:cNvSpPr txBox="1"/>
          <p:nvPr/>
        </p:nvSpPr>
        <p:spPr>
          <a:xfrm>
            <a:off x="5074920" y="1280160"/>
            <a:ext cx="3383280" cy="320040"/>
          </a:xfrm>
          <a:prstGeom prst="rect">
            <a:avLst/>
          </a:prstGeom>
          <a:noFill/>
        </p:spPr>
        <p:txBody>
          <a:bodyPr wrap="square" lIns="0" rIns="0" tIns="36576" bIns="36576" anchor="t">
            <a:normAutofit/>
          </a:bodyPr>
          <a:lstStyle/>
          <a:p>
            <a:pPr algn="l"/>
            <a:r>
              <a:rPr sz="1400" b="1">
                <a:solidFill>
                  <a:srgbClr val="161A3E"/>
                </a:solidFill>
                <a:latin typeface="Calibri"/>
              </a:rPr>
              <a:t>Films released per decade</a:t>
            </a:r>
          </a:p>
        </p:txBody>
      </p:sp>
      <p:graphicFrame>
        <p:nvGraphicFramePr>
          <p:cNvPr id="24" name="Chart 23"/>
          <p:cNvGraphicFramePr>
            <a:graphicFrameLocks noGrp="1"/>
          </p:cNvGraphicFramePr>
          <p:nvPr/>
        </p:nvGraphicFramePr>
        <p:xfrm>
          <a:off x="4983480" y="1600200"/>
          <a:ext cx="3474720" cy="2651760"/>
        </p:xfrm>
        <a:graphic>
          <a:graphicData uri="http://schemas.openxmlformats.org/drawingml/2006/chart">
            <c:chart xmlns:c="http://schemas.openxmlformats.org/drawingml/2006/chart" r:id="rId2"/>
          </a:graphicData>
        </a:graphic>
      </p:graphicFrame>
      <p:sp>
        <p:nvSpPr>
          <p:cNvPr id="25" name="TextBox 24"/>
          <p:cNvSpPr txBox="1"/>
          <p:nvPr/>
        </p:nvSpPr>
        <p:spPr>
          <a:xfrm>
            <a:off x="8641080" y="1280160"/>
            <a:ext cx="3017520" cy="320040"/>
          </a:xfrm>
          <a:prstGeom prst="rect">
            <a:avLst/>
          </a:prstGeom>
          <a:noFill/>
        </p:spPr>
        <p:txBody>
          <a:bodyPr wrap="square" lIns="0" rIns="0" tIns="36576" bIns="36576" anchor="t">
            <a:normAutofit/>
          </a:bodyPr>
          <a:lstStyle/>
          <a:p>
            <a:pPr algn="l"/>
            <a:r>
              <a:rPr sz="1400" b="1">
                <a:solidFill>
                  <a:srgbClr val="161A3E"/>
                </a:solidFill>
                <a:latin typeface="Calibri"/>
              </a:rPr>
              <a:t>Missing values by input (%)</a:t>
            </a:r>
          </a:p>
        </p:txBody>
      </p:sp>
      <p:graphicFrame>
        <p:nvGraphicFramePr>
          <p:cNvPr id="26" name="Chart 25"/>
          <p:cNvGraphicFramePr>
            <a:graphicFrameLocks noGrp="1"/>
          </p:cNvGraphicFramePr>
          <p:nvPr/>
        </p:nvGraphicFramePr>
        <p:xfrm>
          <a:off x="8549640" y="1600200"/>
          <a:ext cx="3154680" cy="2651760"/>
        </p:xfrm>
        <a:graphic>
          <a:graphicData uri="http://schemas.openxmlformats.org/drawingml/2006/chart">
            <c:chart xmlns:c="http://schemas.openxmlformats.org/drawingml/2006/chart" r:id="rId3"/>
          </a:graphicData>
        </a:graphic>
      </p:graphicFrame>
      <p:sp>
        <p:nvSpPr>
          <p:cNvPr id="27" name="TextBox 26"/>
          <p:cNvSpPr txBox="1"/>
          <p:nvPr/>
        </p:nvSpPr>
        <p:spPr>
          <a:xfrm>
            <a:off x="5074920" y="4389120"/>
            <a:ext cx="6583680" cy="1554480"/>
          </a:xfrm>
          <a:prstGeom prst="rect">
            <a:avLst/>
          </a:prstGeom>
          <a:noFill/>
        </p:spPr>
        <p:txBody>
          <a:bodyPr wrap="square" lIns="0" rIns="0" tIns="36576" bIns="36576" anchor="t">
            <a:normAutofit/>
          </a:bodyPr>
          <a:lstStyle/>
          <a:p>
            <a:pPr algn="l" marL="200000" indent="-200000">
              <a:spcAft>
                <a:spcPts val="500"/>
              </a:spcAft>
              <a:buChar char="•"/>
            </a:pPr>
            <a:r>
              <a:rPr sz="1300" b="1">
                <a:solidFill>
                  <a:srgbClr val="161A3E"/>
                </a:solidFill>
                <a:latin typeface="Calibri"/>
              </a:rPr>
              <a:t>Modern catalogue: </a:t>
            </a:r>
            <a:r>
              <a:rPr sz="1300" b="0">
                <a:solidFill>
                  <a:srgbClr val="161A3E"/>
                </a:solidFill>
                <a:latin typeface="Calibri"/>
              </a:rPr>
              <a:t>73% of films are from 2000 onward, so release year carries era effects.</a:t>
            </a:r>
          </a:p>
          <a:p>
            <a:pPr algn="l" marL="200000" indent="-200000">
              <a:spcAft>
                <a:spcPts val="500"/>
              </a:spcAft>
              <a:buChar char="•"/>
            </a:pPr>
            <a:r>
              <a:rPr sz="1300" b="1">
                <a:solidFill>
                  <a:srgbClr val="161A3E"/>
                </a:solidFill>
                <a:latin typeface="Calibri"/>
              </a:rPr>
              <a:t>Skewed budget: </a:t>
            </a:r>
            <a:r>
              <a:rPr sz="1300" b="0">
                <a:solidFill>
                  <a:srgbClr val="161A3E"/>
                </a:solidFill>
                <a:latin typeface="Calibri"/>
              </a:rPr>
              <a:t>median $19.9M but a maximum of $12.2B (mixed currencies), hence the log transform.</a:t>
            </a:r>
          </a:p>
          <a:p>
            <a:pPr algn="l" marL="200000" indent="-200000">
              <a:spcAft>
                <a:spcPts val="500"/>
              </a:spcAft>
              <a:buChar char="•"/>
            </a:pPr>
            <a:r>
              <a:rPr sz="1300" b="1">
                <a:solidFill>
                  <a:srgbClr val="161A3E"/>
                </a:solidFill>
                <a:latin typeface="Calibri"/>
              </a:rPr>
              <a:t>Gaps are modest: </a:t>
            </a:r>
            <a:r>
              <a:rPr sz="1300" b="0">
                <a:solidFill>
                  <a:srgbClr val="161A3E"/>
                </a:solidFill>
                <a:latin typeface="Calibri"/>
              </a:rPr>
              <a:t>budget (9.9%), aspect ratio (6.6%) and content rating (6.1%) are filled by median or "Unknown" with missing flags.</a:t>
            </a:r>
          </a:p>
        </p:txBody>
      </p:sp>
      <p:sp>
        <p:nvSpPr>
          <p:cNvPr id="28" name="TextBox 27"/>
          <p:cNvSpPr txBox="1"/>
          <p:nvPr/>
        </p:nvSpPr>
        <p:spPr>
          <a:xfrm>
            <a:off x="548640" y="6035040"/>
            <a:ext cx="10972800" cy="228600"/>
          </a:xfrm>
          <a:prstGeom prst="rect">
            <a:avLst/>
          </a:prstGeom>
          <a:noFill/>
        </p:spPr>
        <p:txBody>
          <a:bodyPr wrap="square" lIns="0" rIns="0" tIns="36576" bIns="36576" anchor="t">
            <a:normAutofit/>
          </a:bodyPr>
          <a:lstStyle/>
          <a:p>
            <a:pPr algn="l"/>
            <a:r>
              <a:rPr sz="900" b="0">
                <a:solidFill>
                  <a:srgbClr val="94A3B8"/>
                </a:solidFill>
                <a:latin typeface="Calibri"/>
              </a:rPr>
              <a:t>Charts computed from the cleaned dataset (4,919 films). Pipeline per docs/PRE_RELEASE_MODEL.md, sections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System Architecture &amp; Workflow</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06 · ARCHITECTURE</a:t>
            </a:r>
          </a:p>
        </p:txBody>
      </p:sp>
      <p:sp>
        <p:nvSpPr>
          <p:cNvPr id="4" name="Rounded Rectangle 3"/>
          <p:cNvSpPr/>
          <p:nvPr/>
        </p:nvSpPr>
        <p:spPr>
          <a:xfrm>
            <a:off x="548640" y="1280160"/>
            <a:ext cx="7315200" cy="1097280"/>
          </a:xfrm>
          <a:prstGeom prst="roundRect">
            <a:avLst>
              <a:gd name="adj" fmla="val 5000"/>
            </a:avLst>
          </a:prstGeom>
          <a:solidFill>
            <a:srgbClr val="F1F5F9"/>
          </a:solidFill>
          <a:ln w="1587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07592"/>
            <a:ext cx="4572000" cy="274320"/>
          </a:xfrm>
          <a:prstGeom prst="rect">
            <a:avLst/>
          </a:prstGeom>
          <a:noFill/>
        </p:spPr>
        <p:txBody>
          <a:bodyPr wrap="square" lIns="73152" rIns="73152" tIns="36576" bIns="36576" anchor="t">
            <a:normAutofit/>
          </a:bodyPr>
          <a:lstStyle/>
          <a:p>
            <a:pPr algn="l"/>
            <a:r>
              <a:rPr sz="1100" b="1">
                <a:solidFill>
                  <a:srgbClr val="475569"/>
                </a:solidFill>
                <a:latin typeface="Calibri"/>
              </a:rPr>
              <a:t>DATA LAYER</a:t>
            </a:r>
          </a:p>
        </p:txBody>
      </p:sp>
      <p:sp>
        <p:nvSpPr>
          <p:cNvPr id="6" name="Rounded Rectangle 5"/>
          <p:cNvSpPr/>
          <p:nvPr/>
        </p:nvSpPr>
        <p:spPr>
          <a:xfrm>
            <a:off x="685800" y="1645919"/>
            <a:ext cx="2148840" cy="594360"/>
          </a:xfrm>
          <a:prstGeom prst="roundRect">
            <a:avLst>
              <a:gd name="adj" fmla="val 10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Movie Metadata Dataset</a:t>
            </a:r>
          </a:p>
        </p:txBody>
      </p:sp>
      <p:sp>
        <p:nvSpPr>
          <p:cNvPr id="7" name="Right Arrow 6"/>
          <p:cNvSpPr/>
          <p:nvPr/>
        </p:nvSpPr>
        <p:spPr>
          <a:xfrm>
            <a:off x="2862072" y="1847088"/>
            <a:ext cx="21945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108960" y="1645919"/>
            <a:ext cx="2148840" cy="594360"/>
          </a:xfrm>
          <a:prstGeom prst="roundRect">
            <a:avLst>
              <a:gd name="adj" fmla="val 10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Data Cleaning</a:t>
            </a:r>
          </a:p>
        </p:txBody>
      </p:sp>
      <p:sp>
        <p:nvSpPr>
          <p:cNvPr id="9" name="Right Arrow 8"/>
          <p:cNvSpPr/>
          <p:nvPr/>
        </p:nvSpPr>
        <p:spPr>
          <a:xfrm>
            <a:off x="5285232" y="1847088"/>
            <a:ext cx="21945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532120" y="1645919"/>
            <a:ext cx="2148840" cy="594360"/>
          </a:xfrm>
          <a:prstGeom prst="roundRect">
            <a:avLst>
              <a:gd name="adj" fmla="val 10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Feature Engineering</a:t>
            </a:r>
          </a:p>
        </p:txBody>
      </p:sp>
      <p:sp>
        <p:nvSpPr>
          <p:cNvPr id="11" name="Rounded Rectangle 10"/>
          <p:cNvSpPr/>
          <p:nvPr/>
        </p:nvSpPr>
        <p:spPr>
          <a:xfrm>
            <a:off x="548640" y="2651760"/>
            <a:ext cx="7315200" cy="1188720"/>
          </a:xfrm>
          <a:prstGeom prst="roundRect">
            <a:avLst>
              <a:gd name="adj" fmla="val 5000"/>
            </a:avLst>
          </a:prstGeom>
          <a:solidFill>
            <a:srgbClr val="F1F5F9"/>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79191"/>
            <a:ext cx="4572000" cy="274320"/>
          </a:xfrm>
          <a:prstGeom prst="rect">
            <a:avLst/>
          </a:prstGeom>
          <a:noFill/>
        </p:spPr>
        <p:txBody>
          <a:bodyPr wrap="square" lIns="73152" rIns="73152" tIns="36576" bIns="36576" anchor="t">
            <a:normAutofit/>
          </a:bodyPr>
          <a:lstStyle/>
          <a:p>
            <a:pPr algn="l"/>
            <a:r>
              <a:rPr sz="1100" b="1">
                <a:solidFill>
                  <a:srgbClr val="3B82F6"/>
                </a:solidFill>
                <a:latin typeface="Calibri"/>
              </a:rPr>
              <a:t>MACHINE LEARNING LAYER</a:t>
            </a:r>
          </a:p>
        </p:txBody>
      </p:sp>
      <p:sp>
        <p:nvSpPr>
          <p:cNvPr id="13" name="Rounded Rectangle 12"/>
          <p:cNvSpPr/>
          <p:nvPr/>
        </p:nvSpPr>
        <p:spPr>
          <a:xfrm>
            <a:off x="685800" y="3017520"/>
            <a:ext cx="1554480" cy="640080"/>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Preprocessing Pipeline</a:t>
            </a:r>
          </a:p>
        </p:txBody>
      </p:sp>
      <p:sp>
        <p:nvSpPr>
          <p:cNvPr id="14" name="Right Arrow 13"/>
          <p:cNvSpPr/>
          <p:nvPr/>
        </p:nvSpPr>
        <p:spPr>
          <a:xfrm>
            <a:off x="2267712" y="3218688"/>
            <a:ext cx="192024"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87168" y="3017520"/>
            <a:ext cx="1554480" cy="640080"/>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Trained Classifier (Random Forest)</a:t>
            </a:r>
          </a:p>
        </p:txBody>
      </p:sp>
      <p:sp>
        <p:nvSpPr>
          <p:cNvPr id="16" name="Right Arrow 15"/>
          <p:cNvSpPr/>
          <p:nvPr/>
        </p:nvSpPr>
        <p:spPr>
          <a:xfrm>
            <a:off x="4069080" y="3218688"/>
            <a:ext cx="192024"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88536" y="3017520"/>
            <a:ext cx="1554480" cy="640080"/>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Prediction Engine</a:t>
            </a:r>
          </a:p>
        </p:txBody>
      </p:sp>
      <p:sp>
        <p:nvSpPr>
          <p:cNvPr id="18" name="Right Arrow 17"/>
          <p:cNvSpPr/>
          <p:nvPr/>
        </p:nvSpPr>
        <p:spPr>
          <a:xfrm>
            <a:off x="5870448" y="3218688"/>
            <a:ext cx="192024"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89904" y="3017520"/>
            <a:ext cx="1554480" cy="640080"/>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Explainability (SHAP)</a:t>
            </a:r>
          </a:p>
        </p:txBody>
      </p:sp>
      <p:sp>
        <p:nvSpPr>
          <p:cNvPr id="20" name="Rounded Rectangle 19"/>
          <p:cNvSpPr/>
          <p:nvPr/>
        </p:nvSpPr>
        <p:spPr>
          <a:xfrm>
            <a:off x="548640" y="4114800"/>
            <a:ext cx="7315200" cy="1188720"/>
          </a:xfrm>
          <a:prstGeom prst="roundRect">
            <a:avLst>
              <a:gd name="adj" fmla="val 5000"/>
            </a:avLst>
          </a:prstGeom>
          <a:solidFill>
            <a:srgbClr val="F1F5F9"/>
          </a:solidFill>
          <a:ln w="15875">
            <a:solidFill>
              <a:srgbClr val="1018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142232"/>
            <a:ext cx="4572000" cy="274320"/>
          </a:xfrm>
          <a:prstGeom prst="rect">
            <a:avLst/>
          </a:prstGeom>
          <a:noFill/>
        </p:spPr>
        <p:txBody>
          <a:bodyPr wrap="square" lIns="73152" rIns="73152" tIns="36576" bIns="36576" anchor="t">
            <a:normAutofit/>
          </a:bodyPr>
          <a:lstStyle/>
          <a:p>
            <a:pPr algn="l"/>
            <a:r>
              <a:rPr sz="1100" b="1">
                <a:solidFill>
                  <a:srgbClr val="101827"/>
                </a:solidFill>
                <a:latin typeface="Calibri"/>
              </a:rPr>
              <a:t>APPLICATION LAYER</a:t>
            </a:r>
          </a:p>
        </p:txBody>
      </p:sp>
      <p:sp>
        <p:nvSpPr>
          <p:cNvPr id="22" name="Rounded Rectangle 21"/>
          <p:cNvSpPr/>
          <p:nvPr/>
        </p:nvSpPr>
        <p:spPr>
          <a:xfrm>
            <a:off x="685800" y="4480560"/>
            <a:ext cx="2148840" cy="640080"/>
          </a:xfrm>
          <a:prstGeom prst="roundRect">
            <a:avLst>
              <a:gd name="adj" fmla="val 10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React Frontend</a:t>
            </a:r>
          </a:p>
        </p:txBody>
      </p:sp>
      <p:sp>
        <p:nvSpPr>
          <p:cNvPr id="23" name="Right Arrow 22"/>
          <p:cNvSpPr/>
          <p:nvPr/>
        </p:nvSpPr>
        <p:spPr>
          <a:xfrm>
            <a:off x="2862072" y="4681728"/>
            <a:ext cx="21945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108960" y="4480560"/>
            <a:ext cx="2148840" cy="640080"/>
          </a:xfrm>
          <a:prstGeom prst="roundRect">
            <a:avLst>
              <a:gd name="adj" fmla="val 10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FastAPI Backend</a:t>
            </a:r>
          </a:p>
        </p:txBody>
      </p:sp>
      <p:sp>
        <p:nvSpPr>
          <p:cNvPr id="25" name="Right Arrow 24"/>
          <p:cNvSpPr/>
          <p:nvPr/>
        </p:nvSpPr>
        <p:spPr>
          <a:xfrm>
            <a:off x="5285232" y="4681728"/>
            <a:ext cx="21945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532120" y="4480560"/>
            <a:ext cx="2148840" cy="640080"/>
          </a:xfrm>
          <a:prstGeom prst="roundRect">
            <a:avLst>
              <a:gd name="adj" fmla="val 10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00" b="1">
                <a:solidFill>
                  <a:srgbClr val="FFFFFF"/>
                </a:solidFill>
                <a:latin typeface="Calibri"/>
              </a:rPr>
              <a:t>Prediction API</a:t>
            </a:r>
          </a:p>
        </p:txBody>
      </p:sp>
      <p:sp>
        <p:nvSpPr>
          <p:cNvPr id="27" name="Down Arrow 26"/>
          <p:cNvSpPr/>
          <p:nvPr/>
        </p:nvSpPr>
        <p:spPr>
          <a:xfrm>
            <a:off x="4069080" y="2404872"/>
            <a:ext cx="274320" cy="219456"/>
          </a:xfrm>
          <a:prstGeom prst="down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wn Arrow 27"/>
          <p:cNvSpPr/>
          <p:nvPr/>
        </p:nvSpPr>
        <p:spPr>
          <a:xfrm>
            <a:off x="4069080" y="3867912"/>
            <a:ext cx="274320" cy="219456"/>
          </a:xfrm>
          <a:prstGeom prst="down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83879" y="1280160"/>
            <a:ext cx="3456432" cy="2606040"/>
          </a:xfrm>
          <a:prstGeom prst="roundRect">
            <a:avLst>
              <a:gd name="adj" fmla="val 5000"/>
            </a:avLst>
          </a:prstGeom>
          <a:solidFill>
            <a:srgbClr val="F5F3FF"/>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1307592"/>
            <a:ext cx="3291840" cy="274320"/>
          </a:xfrm>
          <a:prstGeom prst="rect">
            <a:avLst/>
          </a:prstGeom>
          <a:noFill/>
        </p:spPr>
        <p:txBody>
          <a:bodyPr wrap="square" lIns="73152" rIns="73152" tIns="36576" bIns="36576" anchor="t">
            <a:normAutofit/>
          </a:bodyPr>
          <a:lstStyle/>
          <a:p>
            <a:pPr algn="l"/>
            <a:r>
              <a:rPr sz="1100" b="1">
                <a:solidFill>
                  <a:srgbClr val="8B5CF6"/>
                </a:solidFill>
                <a:latin typeface="Calibri"/>
              </a:rPr>
              <a:t>AGENTIC AI LAYER · AI MOVIE RESEARCHER</a:t>
            </a:r>
          </a:p>
        </p:txBody>
      </p:sp>
      <p:sp>
        <p:nvSpPr>
          <p:cNvPr id="31" name="Rounded Rectangle 30"/>
          <p:cNvSpPr/>
          <p:nvPr/>
        </p:nvSpPr>
        <p:spPr>
          <a:xfrm>
            <a:off x="8321040" y="1645920"/>
            <a:ext cx="3182112" cy="475488"/>
          </a:xfrm>
          <a:prstGeom prst="roundRect">
            <a:avLst>
              <a:gd name="adj" fmla="val 12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50" b="1">
                <a:solidFill>
                  <a:srgbClr val="FFFFFF"/>
                </a:solidFill>
                <a:latin typeface="Calibri"/>
              </a:rPr>
              <a:t>Wikipedia research via local Ollama model</a:t>
            </a:r>
          </a:p>
        </p:txBody>
      </p:sp>
      <p:sp>
        <p:nvSpPr>
          <p:cNvPr id="32" name="Rounded Rectangle 31"/>
          <p:cNvSpPr/>
          <p:nvPr/>
        </p:nvSpPr>
        <p:spPr>
          <a:xfrm>
            <a:off x="8321040" y="2212848"/>
            <a:ext cx="3182112" cy="475488"/>
          </a:xfrm>
          <a:prstGeom prst="roundRect">
            <a:avLst>
              <a:gd name="adj" fmla="val 12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50" b="1">
                <a:solidFill>
                  <a:srgbClr val="FFFFFF"/>
                </a:solidFill>
                <a:latin typeface="Calibri"/>
              </a:rPr>
              <a:t>Runs the pre-release ML model (read-only)</a:t>
            </a:r>
          </a:p>
        </p:txBody>
      </p:sp>
      <p:sp>
        <p:nvSpPr>
          <p:cNvPr id="33" name="Rounded Rectangle 32"/>
          <p:cNvSpPr/>
          <p:nvPr/>
        </p:nvSpPr>
        <p:spPr>
          <a:xfrm>
            <a:off x="8321040" y="2779776"/>
            <a:ext cx="3182112" cy="475488"/>
          </a:xfrm>
          <a:prstGeom prst="roundRect">
            <a:avLst>
              <a:gd name="adj" fmla="val 12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rmAutofit/>
          </a:bodyPr>
          <a:lstStyle/>
          <a:p>
            <a:pPr algn="ctr"/>
            <a:r>
              <a:rPr sz="1150" b="1">
                <a:solidFill>
                  <a:srgbClr val="FFFFFF"/>
                </a:solidFill>
                <a:latin typeface="Calibri"/>
              </a:rPr>
              <a:t>Risk analysis and research report</a:t>
            </a:r>
          </a:p>
        </p:txBody>
      </p:sp>
      <p:sp>
        <p:nvSpPr>
          <p:cNvPr id="34" name="TextBox 33"/>
          <p:cNvSpPr txBox="1"/>
          <p:nvPr/>
        </p:nvSpPr>
        <p:spPr>
          <a:xfrm>
            <a:off x="8275320" y="3383280"/>
            <a:ext cx="3291840" cy="457200"/>
          </a:xfrm>
          <a:prstGeom prst="rect">
            <a:avLst/>
          </a:prstGeom>
          <a:noFill/>
        </p:spPr>
        <p:txBody>
          <a:bodyPr wrap="square" lIns="73152" rIns="73152" tIns="36576" bIns="36576" anchor="ctr">
            <a:normAutofit/>
          </a:bodyPr>
          <a:lstStyle/>
          <a:p>
            <a:pPr algn="ctr"/>
            <a:r>
              <a:rPr sz="1200" b="1">
                <a:solidFill>
                  <a:srgbClr val="8B5CF6"/>
                </a:solidFill>
                <a:latin typeface="Calibri"/>
              </a:rPr>
              <a:t>Never modifies the ML prediction</a:t>
            </a:r>
          </a:p>
        </p:txBody>
      </p:sp>
      <p:sp>
        <p:nvSpPr>
          <p:cNvPr id="35" name="Rounded Rectangle 34"/>
          <p:cNvSpPr/>
          <p:nvPr/>
        </p:nvSpPr>
        <p:spPr>
          <a:xfrm>
            <a:off x="8183879" y="4114800"/>
            <a:ext cx="3456432" cy="1188720"/>
          </a:xfrm>
          <a:prstGeom prst="roundRect">
            <a:avLst>
              <a:gd name="adj" fmla="val 5000"/>
            </a:avLst>
          </a:prstGeom>
          <a:solidFill>
            <a:srgbClr val="ECFEFF"/>
          </a:solidFill>
          <a:ln w="1905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20" y="4142232"/>
            <a:ext cx="3291840" cy="274320"/>
          </a:xfrm>
          <a:prstGeom prst="rect">
            <a:avLst/>
          </a:prstGeom>
          <a:noFill/>
        </p:spPr>
        <p:txBody>
          <a:bodyPr wrap="square" lIns="73152" rIns="73152" tIns="36576" bIns="36576" anchor="t">
            <a:normAutofit/>
          </a:bodyPr>
          <a:lstStyle/>
          <a:p>
            <a:pPr algn="l"/>
            <a:r>
              <a:rPr sz="1100" b="1">
                <a:solidFill>
                  <a:srgbClr val="0E7490"/>
                </a:solidFill>
                <a:latin typeface="Calibri"/>
              </a:rPr>
              <a:t>AI ASSISTANT · GEMINI API</a:t>
            </a:r>
          </a:p>
        </p:txBody>
      </p:sp>
      <p:sp>
        <p:nvSpPr>
          <p:cNvPr id="37" name="Rounded Rectangle 36"/>
          <p:cNvSpPr/>
          <p:nvPr/>
        </p:nvSpPr>
        <p:spPr>
          <a:xfrm>
            <a:off x="8321040" y="4480560"/>
            <a:ext cx="3182112" cy="640080"/>
          </a:xfrm>
          <a:prstGeom prst="roundRect">
            <a:avLst>
              <a:gd name="adj" fmla="val 12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normAutofit/>
          </a:bodyPr>
          <a:lstStyle/>
          <a:p>
            <a:pPr algn="ctr"/>
            <a:r>
              <a:rPr sz="1150" b="1">
                <a:solidFill>
                  <a:srgbClr val="101827"/>
                </a:solidFill>
                <a:latin typeface="Calibri"/>
              </a:rPr>
              <a:t>Conversational Q&amp;A on movies and data science; explains stored research</a:t>
            </a:r>
          </a:p>
        </p:txBody>
      </p:sp>
      <p:cxnSp>
        <p:nvCxnSpPr>
          <p:cNvPr id="38" name="Connector 37"/>
          <p:cNvCxnSpPr/>
          <p:nvPr/>
        </p:nvCxnSpPr>
        <p:spPr>
          <a:xfrm>
            <a:off x="7863840" y="4800600"/>
            <a:ext cx="164591" cy="0"/>
          </a:xfrm>
          <a:prstGeom prst="line">
            <a:avLst/>
          </a:prstGeom>
          <a:ln w="2222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028431" y="2560320"/>
            <a:ext cx="0" cy="2240280"/>
          </a:xfrm>
          <a:prstGeom prst="line">
            <a:avLst/>
          </a:prstGeom>
          <a:ln w="2222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028431" y="2560320"/>
            <a:ext cx="155448" cy="0"/>
          </a:xfrm>
          <a:prstGeom prst="line">
            <a:avLst/>
          </a:prstGeom>
          <a:ln w="22225">
            <a:solidFill>
              <a:srgbClr val="8B5CF6"/>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028431" y="4800600"/>
            <a:ext cx="155448" cy="0"/>
          </a:xfrm>
          <a:prstGeom prst="line">
            <a:avLst/>
          </a:prstGeom>
          <a:ln w="22225">
            <a:solidFill>
              <a:srgbClr val="0891B2"/>
            </a:solidFill>
            <a:tailEnd type="triangle"/>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548640" y="5641848"/>
            <a:ext cx="182880" cy="18288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5528" y="5559552"/>
            <a:ext cx="2194560" cy="347472"/>
          </a:xfrm>
          <a:prstGeom prst="rect">
            <a:avLst/>
          </a:prstGeom>
          <a:noFill/>
        </p:spPr>
        <p:txBody>
          <a:bodyPr wrap="square" lIns="73152" rIns="73152" tIns="36576" bIns="36576" anchor="ctr">
            <a:normAutofit/>
          </a:bodyPr>
          <a:lstStyle/>
          <a:p>
            <a:pPr algn="l"/>
            <a:r>
              <a:rPr sz="1200" b="1">
                <a:solidFill>
                  <a:srgbClr val="161A3E"/>
                </a:solidFill>
                <a:latin typeface="Calibri"/>
              </a:rPr>
              <a:t>ML prediction</a:t>
            </a:r>
          </a:p>
        </p:txBody>
      </p:sp>
      <p:sp>
        <p:nvSpPr>
          <p:cNvPr id="44" name="Oval 43"/>
          <p:cNvSpPr/>
          <p:nvPr/>
        </p:nvSpPr>
        <p:spPr>
          <a:xfrm>
            <a:off x="3063240" y="5641848"/>
            <a:ext cx="182880" cy="18288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10128" y="5559552"/>
            <a:ext cx="2194560" cy="347472"/>
          </a:xfrm>
          <a:prstGeom prst="rect">
            <a:avLst/>
          </a:prstGeom>
          <a:noFill/>
        </p:spPr>
        <p:txBody>
          <a:bodyPr wrap="square" lIns="73152" rIns="73152" tIns="36576" bIns="36576" anchor="ctr">
            <a:normAutofit/>
          </a:bodyPr>
          <a:lstStyle/>
          <a:p>
            <a:pPr algn="l"/>
            <a:r>
              <a:rPr sz="1200" b="1">
                <a:solidFill>
                  <a:srgbClr val="161A3E"/>
                </a:solidFill>
                <a:latin typeface="Calibri"/>
              </a:rPr>
              <a:t>Agentic research</a:t>
            </a:r>
          </a:p>
        </p:txBody>
      </p:sp>
      <p:sp>
        <p:nvSpPr>
          <p:cNvPr id="46" name="Oval 45"/>
          <p:cNvSpPr/>
          <p:nvPr/>
        </p:nvSpPr>
        <p:spPr>
          <a:xfrm>
            <a:off x="5577840" y="5641848"/>
            <a:ext cx="182880" cy="18288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24727" y="5559552"/>
            <a:ext cx="2194560" cy="347472"/>
          </a:xfrm>
          <a:prstGeom prst="rect">
            <a:avLst/>
          </a:prstGeom>
          <a:noFill/>
        </p:spPr>
        <p:txBody>
          <a:bodyPr wrap="square" lIns="73152" rIns="73152" tIns="36576" bIns="36576" anchor="ctr">
            <a:normAutofit/>
          </a:bodyPr>
          <a:lstStyle/>
          <a:p>
            <a:pPr algn="l"/>
            <a:r>
              <a:rPr sz="1200" b="1">
                <a:solidFill>
                  <a:srgbClr val="161A3E"/>
                </a:solidFill>
                <a:latin typeface="Calibri"/>
              </a:rPr>
              <a:t>AI-generated explanation</a:t>
            </a:r>
          </a:p>
        </p:txBody>
      </p:sp>
      <p:sp>
        <p:nvSpPr>
          <p:cNvPr id="48" name="TextBox 47"/>
          <p:cNvSpPr txBox="1"/>
          <p:nvPr/>
        </p:nvSpPr>
        <p:spPr>
          <a:xfrm>
            <a:off x="8183879" y="5486400"/>
            <a:ext cx="3456432" cy="502920"/>
          </a:xfrm>
          <a:prstGeom prst="rect">
            <a:avLst/>
          </a:prstGeom>
          <a:noFill/>
        </p:spPr>
        <p:txBody>
          <a:bodyPr wrap="square" lIns="73152" rIns="73152" tIns="36576" bIns="36576" anchor="ctr">
            <a:normAutofit/>
          </a:bodyPr>
          <a:lstStyle/>
          <a:p>
            <a:pPr algn="r"/>
            <a:r>
              <a:rPr sz="1200" b="0">
                <a:solidFill>
                  <a:srgbClr val="475569"/>
                </a:solidFill>
                <a:latin typeface="Calibri"/>
              </a:rPr>
              <a:t>Three separate roles: predict, research, explain</a:t>
            </a:r>
          </a:p>
        </p:txBody>
      </p:sp>
      <p:sp>
        <p:nvSpPr>
          <p:cNvPr id="49" name="TextBox 48"/>
          <p:cNvSpPr txBox="1"/>
          <p:nvPr/>
        </p:nvSpPr>
        <p:spPr>
          <a:xfrm>
            <a:off x="548640" y="6035040"/>
            <a:ext cx="10972800" cy="228600"/>
          </a:xfrm>
          <a:prstGeom prst="rect">
            <a:avLst/>
          </a:prstGeom>
          <a:noFill/>
        </p:spPr>
        <p:txBody>
          <a:bodyPr wrap="square" lIns="0" rIns="0" tIns="36576" bIns="36576" anchor="t">
            <a:normAutofit/>
          </a:bodyPr>
          <a:lstStyle/>
          <a:p>
            <a:pPr algn="l"/>
            <a:r>
              <a:rPr sz="900" b="0">
                <a:solidFill>
                  <a:srgbClr val="94A3B8"/>
                </a:solidFill>
                <a:latin typeface="Calibri"/>
              </a:rPr>
              <a:t>Implementation per README and repository: backend/ml, backend/app (FastAPI), frontend (React), backend/agent (Ollama), backend/gemini (Gemini).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Model Evaluation: 14 Algorithms, 42 Configurations</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07 · EVALUATION</a:t>
            </a:r>
          </a:p>
        </p:txBody>
      </p:sp>
      <p:sp>
        <p:nvSpPr>
          <p:cNvPr id="4" name="TextBox 3"/>
          <p:cNvSpPr txBox="1"/>
          <p:nvPr/>
        </p:nvSpPr>
        <p:spPr>
          <a:xfrm>
            <a:off x="548640" y="1280160"/>
            <a:ext cx="3200400" cy="320040"/>
          </a:xfrm>
          <a:prstGeom prst="rect">
            <a:avLst/>
          </a:prstGeom>
          <a:noFill/>
        </p:spPr>
        <p:txBody>
          <a:bodyPr wrap="square" lIns="0" rIns="0" tIns="36576" bIns="36576" anchor="t">
            <a:normAutofit/>
          </a:bodyPr>
          <a:lstStyle/>
          <a:p>
            <a:pPr algn="l"/>
            <a:r>
              <a:rPr sz="1500" b="1">
                <a:solidFill>
                  <a:srgbClr val="161A3E"/>
                </a:solidFill>
                <a:latin typeface="Calibri"/>
              </a:rPr>
              <a:t>Why Macro F1 and Balanced Accuracy</a:t>
            </a:r>
          </a:p>
        </p:txBody>
      </p:sp>
      <p:sp>
        <p:nvSpPr>
          <p:cNvPr id="5" name="TextBox 4"/>
          <p:cNvSpPr txBox="1"/>
          <p:nvPr/>
        </p:nvSpPr>
        <p:spPr>
          <a:xfrm>
            <a:off x="548640" y="1645920"/>
            <a:ext cx="3200400" cy="2148840"/>
          </a:xfrm>
          <a:prstGeom prst="rect">
            <a:avLst/>
          </a:prstGeom>
          <a:noFill/>
        </p:spPr>
        <p:txBody>
          <a:bodyPr wrap="square" lIns="0" rIns="0" tIns="36576" bIns="36576" anchor="t">
            <a:normAutofit/>
          </a:bodyPr>
          <a:lstStyle/>
          <a:p>
            <a:pPr algn="l" marL="200000" indent="-200000">
              <a:spcAft>
                <a:spcPts val="600"/>
              </a:spcAft>
              <a:buChar char="•"/>
            </a:pPr>
            <a:r>
              <a:rPr sz="1300" b="1">
                <a:solidFill>
                  <a:srgbClr val="161A3E"/>
                </a:solidFill>
                <a:latin typeface="Calibri"/>
              </a:rPr>
              <a:t>Accuracy misleads. </a:t>
            </a:r>
            <a:r>
              <a:rPr sz="1300" b="0">
                <a:solidFill>
                  <a:srgbClr val="161A3E"/>
                </a:solidFill>
                <a:latin typeface="Calibri"/>
              </a:rPr>
              <a:t>Always answering "Hit" gives 71.0% accuracy but only 0.277 Macro F1.</a:t>
            </a:r>
          </a:p>
          <a:p>
            <a:pPr algn="l" marL="200000" indent="-200000">
              <a:spcAft>
                <a:spcPts val="600"/>
              </a:spcAft>
              <a:buChar char="•"/>
            </a:pPr>
            <a:r>
              <a:rPr sz="1300" b="1">
                <a:solidFill>
                  <a:srgbClr val="161A3E"/>
                </a:solidFill>
                <a:latin typeface="Calibri"/>
              </a:rPr>
              <a:t>Macro F1 </a:t>
            </a:r>
            <a:r>
              <a:rPr sz="1300" b="0">
                <a:solidFill>
                  <a:srgbClr val="161A3E"/>
                </a:solidFill>
                <a:latin typeface="Calibri"/>
              </a:rPr>
              <a:t>weights all three classes equally; </a:t>
            </a:r>
            <a:r>
              <a:rPr sz="1300" b="1">
                <a:solidFill>
                  <a:srgbClr val="161A3E"/>
                </a:solidFill>
                <a:latin typeface="Calibri"/>
              </a:rPr>
              <a:t>Balanced Accuracy </a:t>
            </a:r>
            <a:r>
              <a:rPr sz="1300" b="0">
                <a:solidFill>
                  <a:srgbClr val="161A3E"/>
                </a:solidFill>
                <a:latin typeface="Calibri"/>
              </a:rPr>
              <a:t>averages per-class recall.</a:t>
            </a:r>
          </a:p>
          <a:p>
            <a:pPr algn="l" marL="200000" indent="-200000">
              <a:spcAft>
                <a:spcPts val="600"/>
              </a:spcAft>
              <a:buChar char="•"/>
            </a:pPr>
            <a:r>
              <a:rPr sz="1300" b="1">
                <a:solidFill>
                  <a:srgbClr val="161A3E"/>
                </a:solidFill>
                <a:latin typeface="Calibri"/>
              </a:rPr>
              <a:t>Balancing is a trade-off: </a:t>
            </a:r>
            <a:r>
              <a:rPr sz="1300" b="0">
                <a:solidFill>
                  <a:srgbClr val="161A3E"/>
                </a:solidFill>
                <a:latin typeface="Calibri"/>
              </a:rPr>
              <a:t>mean accuracy falls 75.4% → 68.5% while Flop recall rises 0% → 18%.</a:t>
            </a:r>
          </a:p>
        </p:txBody>
      </p:sp>
      <p:sp>
        <p:nvSpPr>
          <p:cNvPr id="6" name="TextBox 5"/>
          <p:cNvSpPr txBox="1"/>
          <p:nvPr/>
        </p:nvSpPr>
        <p:spPr>
          <a:xfrm>
            <a:off x="548640" y="3840480"/>
            <a:ext cx="3200400" cy="274320"/>
          </a:xfrm>
          <a:prstGeom prst="rect">
            <a:avLst/>
          </a:prstGeom>
          <a:noFill/>
        </p:spPr>
        <p:txBody>
          <a:bodyPr wrap="square" lIns="0" rIns="0" tIns="36576" bIns="36576" anchor="t">
            <a:normAutofit/>
          </a:bodyPr>
          <a:lstStyle/>
          <a:p>
            <a:pPr algn="l"/>
            <a:r>
              <a:rPr sz="1100" b="1">
                <a:solidFill>
                  <a:srgbClr val="3B82F6"/>
                </a:solidFill>
                <a:latin typeface="Calibri"/>
              </a:rPr>
              <a:t>PROTOCOL</a:t>
            </a:r>
          </a:p>
        </p:txBody>
      </p:sp>
      <p:sp>
        <p:nvSpPr>
          <p:cNvPr id="7" name="Oval 6"/>
          <p:cNvSpPr/>
          <p:nvPr/>
        </p:nvSpPr>
        <p:spPr>
          <a:xfrm>
            <a:off x="566928" y="4206240"/>
            <a:ext cx="274320" cy="274320"/>
          </a:xfrm>
          <a:prstGeom prst="ellipse">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1</a:t>
            </a:r>
          </a:p>
        </p:txBody>
      </p:sp>
      <p:sp>
        <p:nvSpPr>
          <p:cNvPr id="8" name="TextBox 7"/>
          <p:cNvSpPr txBox="1"/>
          <p:nvPr/>
        </p:nvSpPr>
        <p:spPr>
          <a:xfrm>
            <a:off x="914400" y="4160520"/>
            <a:ext cx="2880360" cy="365760"/>
          </a:xfrm>
          <a:prstGeom prst="rect">
            <a:avLst/>
          </a:prstGeom>
          <a:noFill/>
        </p:spPr>
        <p:txBody>
          <a:bodyPr wrap="square" lIns="27432" rIns="27432" tIns="36576" bIns="36576" anchor="ctr">
            <a:normAutofit/>
          </a:bodyPr>
          <a:lstStyle/>
          <a:p>
            <a:pPr algn="l"/>
            <a:r>
              <a:rPr sz="1200" b="0">
                <a:solidFill>
                  <a:srgbClr val="161A3E"/>
                </a:solidFill>
                <a:latin typeface="Calibri"/>
              </a:rPr>
              <a:t>Screen all 42 configurations (5×3 CV)</a:t>
            </a:r>
          </a:p>
        </p:txBody>
      </p:sp>
      <p:sp>
        <p:nvSpPr>
          <p:cNvPr id="9" name="Oval 8"/>
          <p:cNvSpPr/>
          <p:nvPr/>
        </p:nvSpPr>
        <p:spPr>
          <a:xfrm>
            <a:off x="566928" y="4663440"/>
            <a:ext cx="274320" cy="274320"/>
          </a:xfrm>
          <a:prstGeom prst="ellipse">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2</a:t>
            </a:r>
          </a:p>
        </p:txBody>
      </p:sp>
      <p:sp>
        <p:nvSpPr>
          <p:cNvPr id="10" name="TextBox 9"/>
          <p:cNvSpPr txBox="1"/>
          <p:nvPr/>
        </p:nvSpPr>
        <p:spPr>
          <a:xfrm>
            <a:off x="914400" y="4617720"/>
            <a:ext cx="2880360" cy="365760"/>
          </a:xfrm>
          <a:prstGeom prst="rect">
            <a:avLst/>
          </a:prstGeom>
          <a:noFill/>
        </p:spPr>
        <p:txBody>
          <a:bodyPr wrap="square" lIns="27432" rIns="27432" tIns="36576" bIns="36576" anchor="ctr">
            <a:normAutofit/>
          </a:bodyPr>
          <a:lstStyle/>
          <a:p>
            <a:pPr algn="l"/>
            <a:r>
              <a:rPr sz="1200" b="0">
                <a:solidFill>
                  <a:srgbClr val="161A3E"/>
                </a:solidFill>
                <a:latin typeface="Calibri"/>
              </a:rPr>
              <a:t>Tune the 5 strongest algorithms</a:t>
            </a:r>
          </a:p>
        </p:txBody>
      </p:sp>
      <p:sp>
        <p:nvSpPr>
          <p:cNvPr id="11" name="Oval 10"/>
          <p:cNvSpPr/>
          <p:nvPr/>
        </p:nvSpPr>
        <p:spPr>
          <a:xfrm>
            <a:off x="566928" y="5120640"/>
            <a:ext cx="274320" cy="274320"/>
          </a:xfrm>
          <a:prstGeom prst="ellipse">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3</a:t>
            </a:r>
          </a:p>
        </p:txBody>
      </p:sp>
      <p:sp>
        <p:nvSpPr>
          <p:cNvPr id="12" name="TextBox 11"/>
          <p:cNvSpPr txBox="1"/>
          <p:nvPr/>
        </p:nvSpPr>
        <p:spPr>
          <a:xfrm>
            <a:off x="914400" y="5074920"/>
            <a:ext cx="2880360" cy="365760"/>
          </a:xfrm>
          <a:prstGeom prst="rect">
            <a:avLst/>
          </a:prstGeom>
          <a:noFill/>
        </p:spPr>
        <p:txBody>
          <a:bodyPr wrap="square" lIns="27432" rIns="27432" tIns="36576" bIns="36576" anchor="ctr">
            <a:normAutofit/>
          </a:bodyPr>
          <a:lstStyle/>
          <a:p>
            <a:pPr algn="l"/>
            <a:r>
              <a:rPr sz="1200" b="0">
                <a:solidFill>
                  <a:srgbClr val="161A3E"/>
                </a:solidFill>
                <a:latin typeface="Calibri"/>
              </a:rPr>
              <a:t>Re-score 14 finalists on fresh folds</a:t>
            </a:r>
          </a:p>
        </p:txBody>
      </p:sp>
      <p:sp>
        <p:nvSpPr>
          <p:cNvPr id="13" name="Oval 12"/>
          <p:cNvSpPr/>
          <p:nvPr/>
        </p:nvSpPr>
        <p:spPr>
          <a:xfrm>
            <a:off x="566928" y="5577840"/>
            <a:ext cx="274320" cy="274320"/>
          </a:xfrm>
          <a:prstGeom prst="ellipse">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100" b="1">
                <a:solidFill>
                  <a:srgbClr val="FFFFFF"/>
                </a:solidFill>
                <a:latin typeface="Calibri"/>
              </a:rPr>
              <a:t>4</a:t>
            </a:r>
          </a:p>
        </p:txBody>
      </p:sp>
      <p:sp>
        <p:nvSpPr>
          <p:cNvPr id="14" name="TextBox 13"/>
          <p:cNvSpPr txBox="1"/>
          <p:nvPr/>
        </p:nvSpPr>
        <p:spPr>
          <a:xfrm>
            <a:off x="914400" y="5532120"/>
            <a:ext cx="2880360" cy="365760"/>
          </a:xfrm>
          <a:prstGeom prst="rect">
            <a:avLst/>
          </a:prstGeom>
          <a:noFill/>
        </p:spPr>
        <p:txBody>
          <a:bodyPr wrap="square" lIns="27432" rIns="27432" tIns="36576" bIns="36576" anchor="ctr">
            <a:normAutofit/>
          </a:bodyPr>
          <a:lstStyle/>
          <a:p>
            <a:pPr algn="l"/>
            <a:r>
              <a:rPr sz="1200" b="0">
                <a:solidFill>
                  <a:srgbClr val="161A3E"/>
                </a:solidFill>
                <a:latin typeface="Calibri"/>
              </a:rPr>
              <a:t>Test set used once, after selection</a:t>
            </a:r>
          </a:p>
        </p:txBody>
      </p:sp>
      <p:sp>
        <p:nvSpPr>
          <p:cNvPr id="15" name="TextBox 14"/>
          <p:cNvSpPr txBox="1"/>
          <p:nvPr/>
        </p:nvSpPr>
        <p:spPr>
          <a:xfrm>
            <a:off x="3977639" y="1280160"/>
            <a:ext cx="4663440" cy="502920"/>
          </a:xfrm>
          <a:prstGeom prst="rect">
            <a:avLst/>
          </a:prstGeom>
          <a:noFill/>
        </p:spPr>
        <p:txBody>
          <a:bodyPr wrap="square" lIns="0" rIns="0" tIns="36576" bIns="36576" anchor="t">
            <a:normAutofit/>
          </a:bodyPr>
          <a:lstStyle/>
          <a:p>
            <a:pPr algn="l"/>
            <a:r>
              <a:rPr sz="1500" b="1">
                <a:solidFill>
                  <a:srgbClr val="161A3E"/>
                </a:solidFill>
                <a:latin typeface="Calibri"/>
              </a:rPr>
              <a:t>Finalists: mean Macro F1</a:t>
            </a:r>
          </a:p>
          <a:p>
            <a:pPr algn="l"/>
            <a:r>
              <a:rPr sz="1100" b="0">
                <a:solidFill>
                  <a:srgbClr val="475569"/>
                </a:solidFill>
                <a:latin typeface="Calibri"/>
              </a:rPr>
              <a:t>Cross-validation, 5×3 identical fresh folds (top 10 of 14 + baseline)</a:t>
            </a:r>
          </a:p>
        </p:txBody>
      </p:sp>
      <p:graphicFrame>
        <p:nvGraphicFramePr>
          <p:cNvPr id="16" name="Chart 15"/>
          <p:cNvGraphicFramePr>
            <a:graphicFrameLocks noGrp="1"/>
          </p:cNvGraphicFramePr>
          <p:nvPr/>
        </p:nvGraphicFramePr>
        <p:xfrm>
          <a:off x="3886200" y="1783080"/>
          <a:ext cx="4846320" cy="3429000"/>
        </p:xfrm>
        <a:graphic>
          <a:graphicData uri="http://schemas.openxmlformats.org/drawingml/2006/chart">
            <c:chart xmlns:c="http://schemas.openxmlformats.org/drawingml/2006/chart" r:id="rId2"/>
          </a:graphicData>
        </a:graphic>
      </p:graphicFrame>
      <p:sp>
        <p:nvSpPr>
          <p:cNvPr id="17" name="Rounded Rectangle 16"/>
          <p:cNvSpPr/>
          <p:nvPr/>
        </p:nvSpPr>
        <p:spPr>
          <a:xfrm>
            <a:off x="3977639" y="5257800"/>
            <a:ext cx="4663440" cy="73152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l"/>
            <a:r>
              <a:rPr sz="1200" b="1">
                <a:solidFill>
                  <a:srgbClr val="22D3EE"/>
                </a:solidFill>
                <a:latin typeface="Calibri"/>
              </a:rPr>
              <a:t>Highest mean: XGBoost (cyan). </a:t>
            </a:r>
            <a:r>
              <a:rPr sz="1200" b="0">
                <a:solidFill>
                  <a:srgbClr val="FFFFFF"/>
                </a:solidFill>
                <a:latin typeface="Calibri"/>
              </a:rPr>
              <a:t>Finalists are statistically tied (paired t &lt; 2), so the simplest was selected (blue): </a:t>
            </a:r>
            <a:r>
              <a:rPr sz="1200" b="1">
                <a:solidFill>
                  <a:srgbClr val="93C5FD"/>
                </a:solidFill>
                <a:latin typeface="Calibri"/>
              </a:rPr>
              <a:t>Random Forest · class weights</a:t>
            </a:r>
          </a:p>
        </p:txBody>
      </p:sp>
      <p:sp>
        <p:nvSpPr>
          <p:cNvPr id="18" name="TextBox 17"/>
          <p:cNvSpPr txBox="1"/>
          <p:nvPr/>
        </p:nvSpPr>
        <p:spPr>
          <a:xfrm>
            <a:off x="8961120" y="1280160"/>
            <a:ext cx="2697480" cy="502920"/>
          </a:xfrm>
          <a:prstGeom prst="rect">
            <a:avLst/>
          </a:prstGeom>
          <a:noFill/>
        </p:spPr>
        <p:txBody>
          <a:bodyPr wrap="square" lIns="0" rIns="0" tIns="36576" bIns="36576" anchor="t">
            <a:normAutofit/>
          </a:bodyPr>
          <a:lstStyle/>
          <a:p>
            <a:pPr algn="l"/>
            <a:r>
              <a:rPr sz="1500" b="1">
                <a:solidFill>
                  <a:srgbClr val="161A3E"/>
                </a:solidFill>
                <a:latin typeface="Calibri"/>
              </a:rPr>
              <a:t>Confusion matrix</a:t>
            </a:r>
          </a:p>
          <a:p>
            <a:pPr algn="l"/>
            <a:r>
              <a:rPr sz="1100" b="0">
                <a:solidFill>
                  <a:srgbClr val="475569"/>
                </a:solidFill>
                <a:latin typeface="Calibri"/>
              </a:rPr>
              <a:t>Selected model · held-out test, n = 984</a:t>
            </a:r>
          </a:p>
        </p:txBody>
      </p:sp>
      <p:sp>
        <p:nvSpPr>
          <p:cNvPr id="19" name="TextBox 18"/>
          <p:cNvSpPr txBox="1"/>
          <p:nvPr/>
        </p:nvSpPr>
        <p:spPr>
          <a:xfrm>
            <a:off x="9418320" y="1828800"/>
            <a:ext cx="2286000" cy="274320"/>
          </a:xfrm>
          <a:prstGeom prst="rect">
            <a:avLst/>
          </a:prstGeom>
          <a:noFill/>
        </p:spPr>
        <p:txBody>
          <a:bodyPr wrap="square" lIns="73152" rIns="73152" tIns="36576" bIns="36576" anchor="t">
            <a:normAutofit/>
          </a:bodyPr>
          <a:lstStyle/>
          <a:p>
            <a:pPr algn="ctr"/>
            <a:r>
              <a:rPr sz="1100" b="1">
                <a:solidFill>
                  <a:srgbClr val="475569"/>
                </a:solidFill>
                <a:latin typeface="Calibri"/>
              </a:rPr>
              <a:t>Predicted →</a:t>
            </a:r>
          </a:p>
        </p:txBody>
      </p:sp>
      <p:sp>
        <p:nvSpPr>
          <p:cNvPr id="20" name="TextBox 19"/>
          <p:cNvSpPr txBox="1"/>
          <p:nvPr/>
        </p:nvSpPr>
        <p:spPr>
          <a:xfrm>
            <a:off x="9418320" y="2084831"/>
            <a:ext cx="749808" cy="274320"/>
          </a:xfrm>
          <a:prstGeom prst="rect">
            <a:avLst/>
          </a:prstGeom>
          <a:noFill/>
        </p:spPr>
        <p:txBody>
          <a:bodyPr wrap="square" lIns="0" rIns="0" tIns="36576" bIns="36576" anchor="ctr">
            <a:normAutofit/>
          </a:bodyPr>
          <a:lstStyle/>
          <a:p>
            <a:pPr algn="ctr"/>
            <a:r>
              <a:rPr sz="1100" b="1">
                <a:solidFill>
                  <a:srgbClr val="161A3E"/>
                </a:solidFill>
                <a:latin typeface="Calibri"/>
              </a:rPr>
              <a:t>Flop</a:t>
            </a:r>
          </a:p>
        </p:txBody>
      </p:sp>
      <p:sp>
        <p:nvSpPr>
          <p:cNvPr id="21" name="TextBox 20"/>
          <p:cNvSpPr txBox="1"/>
          <p:nvPr/>
        </p:nvSpPr>
        <p:spPr>
          <a:xfrm>
            <a:off x="10168128" y="2084831"/>
            <a:ext cx="749808" cy="274320"/>
          </a:xfrm>
          <a:prstGeom prst="rect">
            <a:avLst/>
          </a:prstGeom>
          <a:noFill/>
        </p:spPr>
        <p:txBody>
          <a:bodyPr wrap="square" lIns="0" rIns="0" tIns="36576" bIns="36576" anchor="ctr">
            <a:normAutofit/>
          </a:bodyPr>
          <a:lstStyle/>
          <a:p>
            <a:pPr algn="ctr"/>
            <a:r>
              <a:rPr sz="1100" b="1">
                <a:solidFill>
                  <a:srgbClr val="161A3E"/>
                </a:solidFill>
                <a:latin typeface="Calibri"/>
              </a:rPr>
              <a:t>Average</a:t>
            </a:r>
          </a:p>
        </p:txBody>
      </p:sp>
      <p:sp>
        <p:nvSpPr>
          <p:cNvPr id="22" name="TextBox 21"/>
          <p:cNvSpPr txBox="1"/>
          <p:nvPr/>
        </p:nvSpPr>
        <p:spPr>
          <a:xfrm>
            <a:off x="10917936" y="2084831"/>
            <a:ext cx="749808" cy="274320"/>
          </a:xfrm>
          <a:prstGeom prst="rect">
            <a:avLst/>
          </a:prstGeom>
          <a:noFill/>
        </p:spPr>
        <p:txBody>
          <a:bodyPr wrap="square" lIns="0" rIns="0" tIns="36576" bIns="36576" anchor="ctr">
            <a:normAutofit/>
          </a:bodyPr>
          <a:lstStyle/>
          <a:p>
            <a:pPr algn="ctr"/>
            <a:r>
              <a:rPr sz="1100" b="1">
                <a:solidFill>
                  <a:srgbClr val="161A3E"/>
                </a:solidFill>
                <a:latin typeface="Calibri"/>
              </a:rPr>
              <a:t>Hit</a:t>
            </a:r>
          </a:p>
        </p:txBody>
      </p:sp>
      <p:sp>
        <p:nvSpPr>
          <p:cNvPr id="23" name="TextBox 22"/>
          <p:cNvSpPr txBox="1"/>
          <p:nvPr/>
        </p:nvSpPr>
        <p:spPr>
          <a:xfrm>
            <a:off x="8732520" y="2377440"/>
            <a:ext cx="685800" cy="713232"/>
          </a:xfrm>
          <a:prstGeom prst="rect">
            <a:avLst/>
          </a:prstGeom>
          <a:noFill/>
        </p:spPr>
        <p:txBody>
          <a:bodyPr wrap="square" lIns="27432" rIns="27432" tIns="36576" bIns="36576" anchor="ctr">
            <a:normAutofit/>
          </a:bodyPr>
          <a:lstStyle/>
          <a:p>
            <a:pPr algn="r"/>
            <a:r>
              <a:rPr sz="1100" b="1">
                <a:solidFill>
                  <a:srgbClr val="161A3E"/>
                </a:solidFill>
                <a:latin typeface="Calibri"/>
              </a:rPr>
              <a:t>Flop</a:t>
            </a:r>
          </a:p>
        </p:txBody>
      </p:sp>
      <p:sp>
        <p:nvSpPr>
          <p:cNvPr id="24" name="Rounded Rectangle 23"/>
          <p:cNvSpPr/>
          <p:nvPr/>
        </p:nvSpPr>
        <p:spPr>
          <a:xfrm>
            <a:off x="9436608" y="2395728"/>
            <a:ext cx="713231" cy="676656"/>
          </a:xfrm>
          <a:prstGeom prst="roundRect">
            <a:avLst>
              <a:gd name="adj" fmla="val 6000"/>
            </a:avLst>
          </a:prstGeom>
          <a:solidFill>
            <a:srgbClr val="E6EF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161A3E"/>
                </a:solidFill>
                <a:latin typeface="Calibri"/>
              </a:rPr>
              <a:t>1</a:t>
            </a:r>
          </a:p>
        </p:txBody>
      </p:sp>
      <p:sp>
        <p:nvSpPr>
          <p:cNvPr id="25" name="Rounded Rectangle 24"/>
          <p:cNvSpPr/>
          <p:nvPr/>
        </p:nvSpPr>
        <p:spPr>
          <a:xfrm>
            <a:off x="10186416" y="2395728"/>
            <a:ext cx="713231" cy="676656"/>
          </a:xfrm>
          <a:prstGeom prst="roundRect">
            <a:avLst>
              <a:gd name="adj" fmla="val 6000"/>
            </a:avLst>
          </a:prstGeom>
          <a:solidFill>
            <a:srgbClr val="9DC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FFFFFF"/>
                </a:solidFill>
                <a:latin typeface="Calibri"/>
              </a:rPr>
              <a:t>4</a:t>
            </a:r>
          </a:p>
        </p:txBody>
      </p:sp>
      <p:sp>
        <p:nvSpPr>
          <p:cNvPr id="26" name="Rounded Rectangle 25"/>
          <p:cNvSpPr/>
          <p:nvPr/>
        </p:nvSpPr>
        <p:spPr>
          <a:xfrm>
            <a:off x="10936224" y="2395728"/>
            <a:ext cx="713231" cy="676656"/>
          </a:xfrm>
          <a:prstGeom prst="roundRect">
            <a:avLst>
              <a:gd name="adj" fmla="val 6000"/>
            </a:avLst>
          </a:prstGeom>
          <a:solidFill>
            <a:srgbClr val="B6D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161A3E"/>
                </a:solidFill>
                <a:latin typeface="Calibri"/>
              </a:rPr>
              <a:t>3</a:t>
            </a:r>
          </a:p>
        </p:txBody>
      </p:sp>
      <p:sp>
        <p:nvSpPr>
          <p:cNvPr id="27" name="TextBox 26"/>
          <p:cNvSpPr txBox="1"/>
          <p:nvPr/>
        </p:nvSpPr>
        <p:spPr>
          <a:xfrm>
            <a:off x="8732520" y="3090672"/>
            <a:ext cx="685800" cy="713232"/>
          </a:xfrm>
          <a:prstGeom prst="rect">
            <a:avLst/>
          </a:prstGeom>
          <a:noFill/>
        </p:spPr>
        <p:txBody>
          <a:bodyPr wrap="square" lIns="27432" rIns="27432" tIns="36576" bIns="36576" anchor="ctr">
            <a:normAutofit/>
          </a:bodyPr>
          <a:lstStyle/>
          <a:p>
            <a:pPr algn="r"/>
            <a:r>
              <a:rPr sz="1100" b="1">
                <a:solidFill>
                  <a:srgbClr val="161A3E"/>
                </a:solidFill>
                <a:latin typeface="Calibri"/>
              </a:rPr>
              <a:t>Average</a:t>
            </a:r>
          </a:p>
        </p:txBody>
      </p:sp>
      <p:sp>
        <p:nvSpPr>
          <p:cNvPr id="28" name="Rounded Rectangle 27"/>
          <p:cNvSpPr/>
          <p:nvPr/>
        </p:nvSpPr>
        <p:spPr>
          <a:xfrm>
            <a:off x="9436608" y="3108960"/>
            <a:ext cx="713231" cy="676656"/>
          </a:xfrm>
          <a:prstGeom prst="roundRect">
            <a:avLst>
              <a:gd name="adj" fmla="val 6000"/>
            </a:avLst>
          </a:prstGeom>
          <a:solidFill>
            <a:srgbClr val="FCFD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161A3E"/>
                </a:solidFill>
                <a:latin typeface="Calibri"/>
              </a:rPr>
              <a:t>4</a:t>
            </a:r>
          </a:p>
        </p:txBody>
      </p:sp>
      <p:sp>
        <p:nvSpPr>
          <p:cNvPr id="29" name="Rounded Rectangle 28"/>
          <p:cNvSpPr/>
          <p:nvPr/>
        </p:nvSpPr>
        <p:spPr>
          <a:xfrm>
            <a:off x="10186416" y="3108960"/>
            <a:ext cx="713231" cy="676656"/>
          </a:xfrm>
          <a:prstGeom prst="roundRect">
            <a:avLst>
              <a:gd name="adj" fmla="val 6000"/>
            </a:avLst>
          </a:prstGeom>
          <a:solidFill>
            <a:srgbClr val="74A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FFFFFF"/>
                </a:solidFill>
                <a:latin typeface="Calibri"/>
              </a:rPr>
              <a:t>197</a:t>
            </a:r>
          </a:p>
        </p:txBody>
      </p:sp>
      <p:sp>
        <p:nvSpPr>
          <p:cNvPr id="30" name="Rounded Rectangle 29"/>
          <p:cNvSpPr/>
          <p:nvPr/>
        </p:nvSpPr>
        <p:spPr>
          <a:xfrm>
            <a:off x="10936224" y="3108960"/>
            <a:ext cx="713231" cy="676656"/>
          </a:xfrm>
          <a:prstGeom prst="roundRect">
            <a:avLst>
              <a:gd name="adj" fmla="val 6000"/>
            </a:avLst>
          </a:prstGeom>
          <a:solidFill>
            <a:srgbClr val="C9D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161A3E"/>
                </a:solidFill>
                <a:latin typeface="Calibri"/>
              </a:rPr>
              <a:t>76</a:t>
            </a:r>
          </a:p>
        </p:txBody>
      </p:sp>
      <p:sp>
        <p:nvSpPr>
          <p:cNvPr id="31" name="TextBox 30"/>
          <p:cNvSpPr txBox="1"/>
          <p:nvPr/>
        </p:nvSpPr>
        <p:spPr>
          <a:xfrm>
            <a:off x="8732520" y="3803904"/>
            <a:ext cx="685800" cy="713232"/>
          </a:xfrm>
          <a:prstGeom prst="rect">
            <a:avLst/>
          </a:prstGeom>
          <a:noFill/>
        </p:spPr>
        <p:txBody>
          <a:bodyPr wrap="square" lIns="27432" rIns="27432" tIns="36576" bIns="36576" anchor="ctr">
            <a:normAutofit/>
          </a:bodyPr>
          <a:lstStyle/>
          <a:p>
            <a:pPr algn="r"/>
            <a:r>
              <a:rPr sz="1100" b="1">
                <a:solidFill>
                  <a:srgbClr val="161A3E"/>
                </a:solidFill>
                <a:latin typeface="Calibri"/>
              </a:rPr>
              <a:t>Hit</a:t>
            </a:r>
          </a:p>
        </p:txBody>
      </p:sp>
      <p:sp>
        <p:nvSpPr>
          <p:cNvPr id="32" name="Rounded Rectangle 31"/>
          <p:cNvSpPr/>
          <p:nvPr/>
        </p:nvSpPr>
        <p:spPr>
          <a:xfrm>
            <a:off x="9436608" y="3822191"/>
            <a:ext cx="713231" cy="676656"/>
          </a:xfrm>
          <a:prstGeom prst="roundRect">
            <a:avLst>
              <a:gd name="adj" fmla="val 6000"/>
            </a:avLst>
          </a:prstGeom>
          <a:solidFill>
            <a:srgbClr val="FEFE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161A3E"/>
                </a:solidFill>
                <a:latin typeface="Calibri"/>
              </a:rPr>
              <a:t>3</a:t>
            </a:r>
          </a:p>
        </p:txBody>
      </p:sp>
      <p:sp>
        <p:nvSpPr>
          <p:cNvPr id="33" name="Rounded Rectangle 32"/>
          <p:cNvSpPr/>
          <p:nvPr/>
        </p:nvSpPr>
        <p:spPr>
          <a:xfrm>
            <a:off x="10186416" y="3822191"/>
            <a:ext cx="713231" cy="676656"/>
          </a:xfrm>
          <a:prstGeom prst="roundRect">
            <a:avLst>
              <a:gd name="adj" fmla="val 6000"/>
            </a:avLst>
          </a:prstGeom>
          <a:solidFill>
            <a:srgbClr val="D0E1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161A3E"/>
                </a:solidFill>
                <a:latin typeface="Calibri"/>
              </a:rPr>
              <a:t>166</a:t>
            </a:r>
          </a:p>
        </p:txBody>
      </p:sp>
      <p:sp>
        <p:nvSpPr>
          <p:cNvPr id="34" name="Rounded Rectangle 33"/>
          <p:cNvSpPr/>
          <p:nvPr/>
        </p:nvSpPr>
        <p:spPr>
          <a:xfrm>
            <a:off x="10936224" y="3822191"/>
            <a:ext cx="713231" cy="676656"/>
          </a:xfrm>
          <a:prstGeom prst="roundRect">
            <a:avLst>
              <a:gd name="adj" fmla="val 6000"/>
            </a:avLst>
          </a:prstGeom>
          <a:solidFill>
            <a:srgbClr val="6AA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rmAutofit/>
          </a:bodyPr>
          <a:lstStyle/>
          <a:p>
            <a:pPr algn="ctr"/>
            <a:r>
              <a:rPr sz="1600" b="1">
                <a:solidFill>
                  <a:srgbClr val="FFFFFF"/>
                </a:solidFill>
                <a:latin typeface="Calibri"/>
              </a:rPr>
              <a:t>530</a:t>
            </a:r>
          </a:p>
        </p:txBody>
      </p:sp>
      <p:sp>
        <p:nvSpPr>
          <p:cNvPr id="35" name="TextBox 34"/>
          <p:cNvSpPr txBox="1"/>
          <p:nvPr/>
        </p:nvSpPr>
        <p:spPr>
          <a:xfrm>
            <a:off x="8641080" y="2103120"/>
            <a:ext cx="777240" cy="274320"/>
          </a:xfrm>
          <a:prstGeom prst="rect">
            <a:avLst/>
          </a:prstGeom>
          <a:noFill/>
        </p:spPr>
        <p:txBody>
          <a:bodyPr wrap="square" lIns="27432" rIns="27432" tIns="36576" bIns="36576" anchor="t">
            <a:normAutofit/>
          </a:bodyPr>
          <a:lstStyle/>
          <a:p>
            <a:pPr algn="r"/>
            <a:r>
              <a:rPr sz="1100" b="1">
                <a:solidFill>
                  <a:srgbClr val="475569"/>
                </a:solidFill>
                <a:latin typeface="Calibri"/>
              </a:rPr>
              <a:t>Actual ↓</a:t>
            </a:r>
          </a:p>
        </p:txBody>
      </p:sp>
      <p:sp>
        <p:nvSpPr>
          <p:cNvPr id="36" name="TextBox 35"/>
          <p:cNvSpPr txBox="1"/>
          <p:nvPr/>
        </p:nvSpPr>
        <p:spPr>
          <a:xfrm>
            <a:off x="8961120" y="4754880"/>
            <a:ext cx="2697480" cy="1234440"/>
          </a:xfrm>
          <a:prstGeom prst="rect">
            <a:avLst/>
          </a:prstGeom>
          <a:noFill/>
        </p:spPr>
        <p:txBody>
          <a:bodyPr wrap="square" lIns="73152" rIns="73152" tIns="36576" bIns="36576" anchor="t">
            <a:normAutofit/>
          </a:bodyPr>
          <a:lstStyle/>
          <a:p>
            <a:pPr algn="l">
              <a:spcAft>
                <a:spcPts val="400"/>
              </a:spcAft>
            </a:pPr>
            <a:r>
              <a:rPr sz="1200" b="0">
                <a:solidFill>
                  <a:srgbClr val="161A3E"/>
                </a:solidFill>
                <a:latin typeface="Calibri"/>
              </a:rPr>
              <a:t>Recall: Flop 1 of 8, Average 197 of 277, Hit 530 of 699</a:t>
            </a:r>
          </a:p>
          <a:p>
            <a:pPr algn="l"/>
            <a:r>
              <a:rPr sz="1100" b="0">
                <a:solidFill>
                  <a:srgbClr val="475569"/>
                </a:solidFill>
                <a:latin typeface="Calibri"/>
              </a:rPr>
              <a:t>Colour = share of each actual class</a:t>
            </a:r>
          </a:p>
        </p:txBody>
      </p:sp>
      <p:sp>
        <p:nvSpPr>
          <p:cNvPr id="37" name="TextBox 36"/>
          <p:cNvSpPr txBox="1"/>
          <p:nvPr/>
        </p:nvSpPr>
        <p:spPr>
          <a:xfrm>
            <a:off x="548640" y="6035040"/>
            <a:ext cx="10972800" cy="228600"/>
          </a:xfrm>
          <a:prstGeom prst="rect">
            <a:avLst/>
          </a:prstGeom>
          <a:noFill/>
        </p:spPr>
        <p:txBody>
          <a:bodyPr wrap="square" lIns="0" rIns="0" tIns="36576" bIns="36576" anchor="t">
            <a:normAutofit/>
          </a:bodyPr>
          <a:lstStyle/>
          <a:p>
            <a:pPr algn="l"/>
            <a:r>
              <a:rPr sz="900" b="0">
                <a:solidFill>
                  <a:srgbClr val="94A3B8"/>
                </a:solidFill>
                <a:latin typeface="Calibri"/>
              </a:rPr>
              <a:t>Source: docs/PRE_RELEASE_MODEL.md and backend/artifacts/comprehensive_results.json. Chart = cross-validation (training set); matrix = held-out 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Results, Key Findings &amp; Agentic AI</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08 · RESULTS &amp; AGENTIC AI</a:t>
            </a:r>
          </a:p>
        </p:txBody>
      </p:sp>
      <p:sp>
        <p:nvSpPr>
          <p:cNvPr id="4" name="Rounded Rectangle 3"/>
          <p:cNvSpPr/>
          <p:nvPr/>
        </p:nvSpPr>
        <p:spPr>
          <a:xfrm>
            <a:off x="548640" y="1280160"/>
            <a:ext cx="5760720" cy="384048"/>
          </a:xfrm>
          <a:prstGeom prst="roundRect">
            <a:avLst>
              <a:gd name="adj" fmla="val 2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normAutofit/>
          </a:bodyPr>
          <a:lstStyle/>
          <a:p>
            <a:pPr algn="l"/>
            <a:r>
              <a:rPr sz="1200" b="1">
                <a:solidFill>
                  <a:srgbClr val="FFFFFF"/>
                </a:solidFill>
                <a:latin typeface="Calibri"/>
              </a:rPr>
              <a:t>MACHINE LEARNING RESULTS · held-out test (984 films)</a:t>
            </a:r>
          </a:p>
        </p:txBody>
      </p:sp>
      <p:sp>
        <p:nvSpPr>
          <p:cNvPr id="5" name="Rounded Rectangle 4"/>
          <p:cNvSpPr/>
          <p:nvPr/>
        </p:nvSpPr>
        <p:spPr>
          <a:xfrm>
            <a:off x="548640" y="1783080"/>
            <a:ext cx="1828800" cy="118872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10512"/>
            <a:ext cx="1737360" cy="502920"/>
          </a:xfrm>
          <a:prstGeom prst="rect">
            <a:avLst/>
          </a:prstGeom>
          <a:noFill/>
        </p:spPr>
        <p:txBody>
          <a:bodyPr wrap="square" lIns="73152" rIns="73152" tIns="36576" bIns="36576" anchor="ctr">
            <a:normAutofit/>
          </a:bodyPr>
          <a:lstStyle/>
          <a:p>
            <a:pPr algn="ctr"/>
            <a:r>
              <a:rPr sz="2400" b="1">
                <a:solidFill>
                  <a:srgbClr val="FFFFFF"/>
                </a:solidFill>
                <a:latin typeface="Calibri"/>
              </a:rPr>
              <a:t>74.0%</a:t>
            </a:r>
          </a:p>
        </p:txBody>
      </p:sp>
      <p:sp>
        <p:nvSpPr>
          <p:cNvPr id="7" name="TextBox 6"/>
          <p:cNvSpPr txBox="1"/>
          <p:nvPr/>
        </p:nvSpPr>
        <p:spPr>
          <a:xfrm>
            <a:off x="594360" y="2286000"/>
            <a:ext cx="1737360" cy="274320"/>
          </a:xfrm>
          <a:prstGeom prst="rect">
            <a:avLst/>
          </a:prstGeom>
          <a:noFill/>
        </p:spPr>
        <p:txBody>
          <a:bodyPr wrap="square" lIns="18288" rIns="18288" tIns="36576" bIns="36576" anchor="t">
            <a:normAutofit/>
          </a:bodyPr>
          <a:lstStyle/>
          <a:p>
            <a:pPr algn="ctr"/>
            <a:r>
              <a:rPr sz="1200" b="1">
                <a:solidFill>
                  <a:srgbClr val="22D3EE"/>
                </a:solidFill>
                <a:latin typeface="Calibri"/>
              </a:rPr>
              <a:t>Accuracy</a:t>
            </a:r>
          </a:p>
        </p:txBody>
      </p:sp>
      <p:sp>
        <p:nvSpPr>
          <p:cNvPr id="8" name="TextBox 7"/>
          <p:cNvSpPr txBox="1"/>
          <p:nvPr/>
        </p:nvSpPr>
        <p:spPr>
          <a:xfrm>
            <a:off x="594360" y="2560320"/>
            <a:ext cx="1737360" cy="365760"/>
          </a:xfrm>
          <a:prstGeom prst="rect">
            <a:avLst/>
          </a:prstGeom>
          <a:noFill/>
        </p:spPr>
        <p:txBody>
          <a:bodyPr wrap="square" lIns="18288" rIns="18288" tIns="36576" bIns="36576" anchor="t">
            <a:normAutofit/>
          </a:bodyPr>
          <a:lstStyle/>
          <a:p>
            <a:pPr algn="ctr"/>
            <a:r>
              <a:rPr sz="1100" b="0">
                <a:solidFill>
                  <a:srgbClr val="CBD5E1"/>
                </a:solidFill>
                <a:latin typeface="Calibri"/>
              </a:rPr>
              <a:t>majority baseline 71.0%</a:t>
            </a:r>
          </a:p>
        </p:txBody>
      </p:sp>
      <p:sp>
        <p:nvSpPr>
          <p:cNvPr id="9" name="Rounded Rectangle 8"/>
          <p:cNvSpPr/>
          <p:nvPr/>
        </p:nvSpPr>
        <p:spPr>
          <a:xfrm>
            <a:off x="2514600" y="1783080"/>
            <a:ext cx="1828800" cy="118872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810512"/>
            <a:ext cx="1737360" cy="502920"/>
          </a:xfrm>
          <a:prstGeom prst="rect">
            <a:avLst/>
          </a:prstGeom>
          <a:noFill/>
        </p:spPr>
        <p:txBody>
          <a:bodyPr wrap="square" lIns="73152" rIns="73152" tIns="36576" bIns="36576" anchor="ctr">
            <a:normAutofit/>
          </a:bodyPr>
          <a:lstStyle/>
          <a:p>
            <a:pPr algn="ctr"/>
            <a:r>
              <a:rPr sz="2400" b="1">
                <a:solidFill>
                  <a:srgbClr val="FFFFFF"/>
                </a:solidFill>
                <a:latin typeface="Calibri"/>
              </a:rPr>
              <a:t>53.1%</a:t>
            </a:r>
          </a:p>
        </p:txBody>
      </p:sp>
      <p:sp>
        <p:nvSpPr>
          <p:cNvPr id="11" name="TextBox 10"/>
          <p:cNvSpPr txBox="1"/>
          <p:nvPr/>
        </p:nvSpPr>
        <p:spPr>
          <a:xfrm>
            <a:off x="2560320" y="2286000"/>
            <a:ext cx="1737360" cy="274320"/>
          </a:xfrm>
          <a:prstGeom prst="rect">
            <a:avLst/>
          </a:prstGeom>
          <a:noFill/>
        </p:spPr>
        <p:txBody>
          <a:bodyPr wrap="square" lIns="18288" rIns="18288" tIns="36576" bIns="36576" anchor="t">
            <a:normAutofit/>
          </a:bodyPr>
          <a:lstStyle/>
          <a:p>
            <a:pPr algn="ctr"/>
            <a:r>
              <a:rPr sz="1200" b="1">
                <a:solidFill>
                  <a:srgbClr val="22D3EE"/>
                </a:solidFill>
                <a:latin typeface="Calibri"/>
              </a:rPr>
              <a:t>Balanced accuracy</a:t>
            </a:r>
          </a:p>
        </p:txBody>
      </p:sp>
      <p:sp>
        <p:nvSpPr>
          <p:cNvPr id="12" name="TextBox 11"/>
          <p:cNvSpPr txBox="1"/>
          <p:nvPr/>
        </p:nvSpPr>
        <p:spPr>
          <a:xfrm>
            <a:off x="2560320" y="2560320"/>
            <a:ext cx="1737360" cy="365760"/>
          </a:xfrm>
          <a:prstGeom prst="rect">
            <a:avLst/>
          </a:prstGeom>
          <a:noFill/>
        </p:spPr>
        <p:txBody>
          <a:bodyPr wrap="square" lIns="18288" rIns="18288" tIns="36576" bIns="36576" anchor="t">
            <a:normAutofit/>
          </a:bodyPr>
          <a:lstStyle/>
          <a:p>
            <a:pPr algn="ctr"/>
            <a:r>
              <a:rPr sz="1100" b="0">
                <a:solidFill>
                  <a:srgbClr val="CBD5E1"/>
                </a:solidFill>
                <a:latin typeface="Calibri"/>
              </a:rPr>
              <a:t>chance level 33.3%</a:t>
            </a:r>
          </a:p>
        </p:txBody>
      </p:sp>
      <p:sp>
        <p:nvSpPr>
          <p:cNvPr id="13" name="Rounded Rectangle 12"/>
          <p:cNvSpPr/>
          <p:nvPr/>
        </p:nvSpPr>
        <p:spPr>
          <a:xfrm>
            <a:off x="4480559" y="1783080"/>
            <a:ext cx="1828800" cy="1188720"/>
          </a:xfrm>
          <a:prstGeom prst="roundRect">
            <a:avLst>
              <a:gd name="adj" fmla="val 8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79" y="1810512"/>
            <a:ext cx="1737360" cy="502920"/>
          </a:xfrm>
          <a:prstGeom prst="rect">
            <a:avLst/>
          </a:prstGeom>
          <a:noFill/>
        </p:spPr>
        <p:txBody>
          <a:bodyPr wrap="square" lIns="73152" rIns="73152" tIns="36576" bIns="36576" anchor="ctr">
            <a:normAutofit/>
          </a:bodyPr>
          <a:lstStyle/>
          <a:p>
            <a:pPr algn="ctr"/>
            <a:r>
              <a:rPr sz="2400" b="1">
                <a:solidFill>
                  <a:srgbClr val="FFFFFF"/>
                </a:solidFill>
                <a:latin typeface="Calibri"/>
              </a:rPr>
              <a:t>0.516</a:t>
            </a:r>
          </a:p>
        </p:txBody>
      </p:sp>
      <p:sp>
        <p:nvSpPr>
          <p:cNvPr id="15" name="TextBox 14"/>
          <p:cNvSpPr txBox="1"/>
          <p:nvPr/>
        </p:nvSpPr>
        <p:spPr>
          <a:xfrm>
            <a:off x="4526279" y="2286000"/>
            <a:ext cx="1737360" cy="274320"/>
          </a:xfrm>
          <a:prstGeom prst="rect">
            <a:avLst/>
          </a:prstGeom>
          <a:noFill/>
        </p:spPr>
        <p:txBody>
          <a:bodyPr wrap="square" lIns="18288" rIns="18288" tIns="36576" bIns="36576" anchor="t">
            <a:normAutofit/>
          </a:bodyPr>
          <a:lstStyle/>
          <a:p>
            <a:pPr algn="ctr"/>
            <a:r>
              <a:rPr sz="1200" b="1">
                <a:solidFill>
                  <a:srgbClr val="22D3EE"/>
                </a:solidFill>
                <a:latin typeface="Calibri"/>
              </a:rPr>
              <a:t>Macro F1</a:t>
            </a:r>
          </a:p>
        </p:txBody>
      </p:sp>
      <p:sp>
        <p:nvSpPr>
          <p:cNvPr id="16" name="TextBox 15"/>
          <p:cNvSpPr txBox="1"/>
          <p:nvPr/>
        </p:nvSpPr>
        <p:spPr>
          <a:xfrm>
            <a:off x="4526279" y="2560320"/>
            <a:ext cx="1737360" cy="365760"/>
          </a:xfrm>
          <a:prstGeom prst="rect">
            <a:avLst/>
          </a:prstGeom>
          <a:noFill/>
        </p:spPr>
        <p:txBody>
          <a:bodyPr wrap="square" lIns="18288" rIns="18288" tIns="36576" bIns="36576" anchor="t">
            <a:normAutofit/>
          </a:bodyPr>
          <a:lstStyle/>
          <a:p>
            <a:pPr algn="ctr"/>
            <a:r>
              <a:rPr sz="1100" b="0">
                <a:solidFill>
                  <a:srgbClr val="CBD5E1"/>
                </a:solidFill>
                <a:latin typeface="Calibri"/>
              </a:rPr>
              <a:t>baseline 0.277</a:t>
            </a:r>
          </a:p>
        </p:txBody>
      </p:sp>
      <p:sp>
        <p:nvSpPr>
          <p:cNvPr id="17" name="TextBox 16"/>
          <p:cNvSpPr txBox="1"/>
          <p:nvPr/>
        </p:nvSpPr>
        <p:spPr>
          <a:xfrm>
            <a:off x="548640" y="3063240"/>
            <a:ext cx="5760720" cy="274320"/>
          </a:xfrm>
          <a:prstGeom prst="rect">
            <a:avLst/>
          </a:prstGeom>
          <a:noFill/>
        </p:spPr>
        <p:txBody>
          <a:bodyPr wrap="square" lIns="0" rIns="0" tIns="36576" bIns="36576" anchor="t">
            <a:normAutofit/>
          </a:bodyPr>
          <a:lstStyle/>
          <a:p>
            <a:pPr algn="l"/>
            <a:r>
              <a:rPr sz="1300" b="1">
                <a:solidFill>
                  <a:srgbClr val="161A3E"/>
                </a:solidFill>
                <a:latin typeface="Calibri"/>
              </a:rPr>
              <a:t>Recall per class (selected Random Forest)</a:t>
            </a:r>
          </a:p>
        </p:txBody>
      </p:sp>
      <p:graphicFrame>
        <p:nvGraphicFramePr>
          <p:cNvPr id="18" name="Chart 17"/>
          <p:cNvGraphicFramePr>
            <a:graphicFrameLocks noGrp="1"/>
          </p:cNvGraphicFramePr>
          <p:nvPr/>
        </p:nvGraphicFramePr>
        <p:xfrm>
          <a:off x="457200" y="3291840"/>
          <a:ext cx="5852160" cy="1783080"/>
        </p:xfrm>
        <a:graphic>
          <a:graphicData uri="http://schemas.openxmlformats.org/drawingml/2006/chart">
            <c:chart xmlns:c="http://schemas.openxmlformats.org/drawingml/2006/chart" r:id="rId2"/>
          </a:graphicData>
        </a:graphic>
      </p:graphicFrame>
      <p:sp>
        <p:nvSpPr>
          <p:cNvPr id="19" name="Rounded Rectangle 18"/>
          <p:cNvSpPr/>
          <p:nvPr/>
        </p:nvSpPr>
        <p:spPr>
          <a:xfrm>
            <a:off x="548640" y="5166360"/>
            <a:ext cx="5760720" cy="82296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l"/>
            <a:r>
              <a:rPr sz="1200" b="1">
                <a:solidFill>
                  <a:srgbClr val="78350F"/>
                </a:solidFill>
                <a:latin typeface="Calibri"/>
              </a:rPr>
              <a:t>Flop detection remains weak: </a:t>
            </a:r>
            <a:r>
              <a:rPr sz="1200" b="0">
                <a:solidFill>
                  <a:srgbClr val="78350F"/>
                </a:solidFill>
                <a:latin typeface="Calibri"/>
              </a:rPr>
              <a:t>1 of 8 test Flops found; only 41 exist. The gain over baseline is modest and lies mainly in balanced accuracy.</a:t>
            </a:r>
          </a:p>
        </p:txBody>
      </p:sp>
      <p:sp>
        <p:nvSpPr>
          <p:cNvPr id="20" name="Rounded Rectangle 19"/>
          <p:cNvSpPr/>
          <p:nvPr/>
        </p:nvSpPr>
        <p:spPr>
          <a:xfrm>
            <a:off x="6583680" y="1280160"/>
            <a:ext cx="5056632" cy="384048"/>
          </a:xfrm>
          <a:prstGeom prst="roundRect">
            <a:avLst>
              <a:gd name="adj" fmla="val 2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normAutofit/>
          </a:bodyPr>
          <a:lstStyle/>
          <a:p>
            <a:pPr algn="l"/>
            <a:r>
              <a:rPr sz="1200" b="1">
                <a:solidFill>
                  <a:srgbClr val="FFFFFF"/>
                </a:solidFill>
                <a:latin typeface="Calibri"/>
              </a:rPr>
              <a:t>AGENTIC AI ADDITION · extends the ML product</a:t>
            </a:r>
          </a:p>
        </p:txBody>
      </p:sp>
      <p:pic>
        <p:nvPicPr>
          <p:cNvPr id="21" name="Picture 20" descr="researcher.png"/>
          <p:cNvPicPr>
            <a:picLocks noChangeAspect="1"/>
          </p:cNvPicPr>
          <p:nvPr/>
        </p:nvPicPr>
        <p:blipFill>
          <a:blip r:embed="rId3"/>
          <a:stretch>
            <a:fillRect/>
          </a:stretch>
        </p:blipFill>
        <p:spPr>
          <a:xfrm>
            <a:off x="6583680" y="1783080"/>
            <a:ext cx="2423160" cy="1514475"/>
          </a:xfrm>
          <a:prstGeom prst="rect">
            <a:avLst/>
          </a:prstGeom>
          <a:ln w="12700">
            <a:solidFill>
              <a:srgbClr val="CBD5E1"/>
            </a:solidFill>
          </a:ln>
        </p:spPr>
      </p:pic>
      <p:sp>
        <p:nvSpPr>
          <p:cNvPr id="22" name="TextBox 21"/>
          <p:cNvSpPr txBox="1"/>
          <p:nvPr/>
        </p:nvSpPr>
        <p:spPr>
          <a:xfrm>
            <a:off x="6583680" y="3383280"/>
            <a:ext cx="2468880" cy="320040"/>
          </a:xfrm>
          <a:prstGeom prst="rect">
            <a:avLst/>
          </a:prstGeom>
          <a:noFill/>
        </p:spPr>
        <p:txBody>
          <a:bodyPr wrap="square" lIns="73152" rIns="73152" tIns="36576" bIns="36576" anchor="t">
            <a:normAutofit/>
          </a:bodyPr>
          <a:lstStyle/>
          <a:p>
            <a:pPr algn="l"/>
            <a:r>
              <a:rPr sz="1400" b="1">
                <a:solidFill>
                  <a:srgbClr val="8B5CF6"/>
                </a:solidFill>
                <a:latin typeface="Calibri"/>
              </a:rPr>
              <a:t>AI Movie Researcher</a:t>
            </a:r>
          </a:p>
        </p:txBody>
      </p:sp>
      <p:sp>
        <p:nvSpPr>
          <p:cNvPr id="23" name="TextBox 22"/>
          <p:cNvSpPr txBox="1"/>
          <p:nvPr/>
        </p:nvSpPr>
        <p:spPr>
          <a:xfrm>
            <a:off x="6583680" y="3703320"/>
            <a:ext cx="2468880" cy="1371600"/>
          </a:xfrm>
          <a:prstGeom prst="rect">
            <a:avLst/>
          </a:prstGeom>
          <a:noFill/>
        </p:spPr>
        <p:txBody>
          <a:bodyPr wrap="square" lIns="73152" rIns="73152" tIns="36576" bIns="36576" anchor="t">
            <a:normAutofit/>
          </a:bodyPr>
          <a:lstStyle/>
          <a:p>
            <a:pPr algn="l" marL="200000" indent="-200000">
              <a:spcAft>
                <a:spcPts val="300"/>
              </a:spcAft>
              <a:buChar char="•"/>
            </a:pPr>
            <a:r>
              <a:rPr sz="1200" b="0">
                <a:solidFill>
                  <a:srgbClr val="161A3E"/>
                </a:solidFill>
                <a:latin typeface="Calibri"/>
              </a:rPr>
              <a:t>Researches a film on Wikipedia with a local Ollama model</a:t>
            </a:r>
          </a:p>
          <a:p>
            <a:pPr algn="l" marL="200000" indent="-200000">
              <a:spcAft>
                <a:spcPts val="300"/>
              </a:spcAft>
              <a:buChar char="•"/>
            </a:pPr>
            <a:r>
              <a:rPr sz="1200" b="0">
                <a:solidFill>
                  <a:srgbClr val="161A3E"/>
                </a:solidFill>
                <a:latin typeface="Calibri"/>
              </a:rPr>
              <a:t>Runs the pre-release ML model</a:t>
            </a:r>
          </a:p>
          <a:p>
            <a:pPr algn="l" marL="200000" indent="-200000">
              <a:spcAft>
                <a:spcPts val="300"/>
              </a:spcAft>
              <a:buChar char="•"/>
            </a:pPr>
            <a:r>
              <a:rPr sz="1200" b="0">
                <a:solidFill>
                  <a:srgbClr val="161A3E"/>
                </a:solidFill>
                <a:latin typeface="Calibri"/>
              </a:rPr>
              <a:t>Reports risks; never changes the prediction</a:t>
            </a:r>
          </a:p>
        </p:txBody>
      </p:sp>
      <p:pic>
        <p:nvPicPr>
          <p:cNvPr id="24" name="Picture 23" descr="assistant.png"/>
          <p:cNvPicPr>
            <a:picLocks noChangeAspect="1"/>
          </p:cNvPicPr>
          <p:nvPr/>
        </p:nvPicPr>
        <p:blipFill>
          <a:blip r:embed="rId4"/>
          <a:stretch>
            <a:fillRect/>
          </a:stretch>
        </p:blipFill>
        <p:spPr>
          <a:xfrm>
            <a:off x="9217152" y="1783080"/>
            <a:ext cx="2423160" cy="1514475"/>
          </a:xfrm>
          <a:prstGeom prst="rect">
            <a:avLst/>
          </a:prstGeom>
          <a:ln w="12700">
            <a:solidFill>
              <a:srgbClr val="CBD5E1"/>
            </a:solidFill>
          </a:ln>
        </p:spPr>
      </p:pic>
      <p:sp>
        <p:nvSpPr>
          <p:cNvPr id="25" name="TextBox 24"/>
          <p:cNvSpPr txBox="1"/>
          <p:nvPr/>
        </p:nvSpPr>
        <p:spPr>
          <a:xfrm>
            <a:off x="9217152" y="3383280"/>
            <a:ext cx="2468880" cy="320040"/>
          </a:xfrm>
          <a:prstGeom prst="rect">
            <a:avLst/>
          </a:prstGeom>
          <a:noFill/>
        </p:spPr>
        <p:txBody>
          <a:bodyPr wrap="square" lIns="73152" rIns="73152" tIns="36576" bIns="36576" anchor="t">
            <a:normAutofit/>
          </a:bodyPr>
          <a:lstStyle/>
          <a:p>
            <a:pPr algn="l"/>
            <a:r>
              <a:rPr sz="1400" b="1">
                <a:solidFill>
                  <a:srgbClr val="0E7490"/>
                </a:solidFill>
                <a:latin typeface="Calibri"/>
              </a:rPr>
              <a:t>AI Assistant</a:t>
            </a:r>
          </a:p>
        </p:txBody>
      </p:sp>
      <p:sp>
        <p:nvSpPr>
          <p:cNvPr id="26" name="TextBox 25"/>
          <p:cNvSpPr txBox="1"/>
          <p:nvPr/>
        </p:nvSpPr>
        <p:spPr>
          <a:xfrm>
            <a:off x="9217152" y="3703320"/>
            <a:ext cx="2468880" cy="1371600"/>
          </a:xfrm>
          <a:prstGeom prst="rect">
            <a:avLst/>
          </a:prstGeom>
          <a:noFill/>
        </p:spPr>
        <p:txBody>
          <a:bodyPr wrap="square" lIns="73152" rIns="73152" tIns="36576" bIns="36576" anchor="t">
            <a:normAutofit/>
          </a:bodyPr>
          <a:lstStyle/>
          <a:p>
            <a:pPr algn="l" marL="200000" indent="-200000">
              <a:spcAft>
                <a:spcPts val="300"/>
              </a:spcAft>
              <a:buChar char="•"/>
            </a:pPr>
            <a:r>
              <a:rPr sz="1200" b="0">
                <a:solidFill>
                  <a:srgbClr val="161A3E"/>
                </a:solidFill>
                <a:latin typeface="Calibri"/>
              </a:rPr>
              <a:t>Gemini-powered chat</a:t>
            </a:r>
          </a:p>
          <a:p>
            <a:pPr algn="l" marL="200000" indent="-200000">
              <a:spcAft>
                <a:spcPts val="300"/>
              </a:spcAft>
              <a:buChar char="•"/>
            </a:pPr>
            <a:r>
              <a:rPr sz="1200" b="0">
                <a:solidFill>
                  <a:srgbClr val="161A3E"/>
                </a:solidFill>
                <a:latin typeface="Calibri"/>
              </a:rPr>
              <a:t>Movie and data-science questions</a:t>
            </a:r>
          </a:p>
          <a:p>
            <a:pPr algn="l" marL="200000" indent="-200000">
              <a:spcAft>
                <a:spcPts val="300"/>
              </a:spcAft>
              <a:buChar char="•"/>
            </a:pPr>
            <a:r>
              <a:rPr sz="1200" b="0">
                <a:solidFill>
                  <a:srgbClr val="161A3E"/>
                </a:solidFill>
                <a:latin typeface="Calibri"/>
              </a:rPr>
              <a:t>Explains a stored movie analysis</a:t>
            </a:r>
          </a:p>
        </p:txBody>
      </p:sp>
      <p:sp>
        <p:nvSpPr>
          <p:cNvPr id="27" name="Rounded Rectangle 26"/>
          <p:cNvSpPr/>
          <p:nvPr/>
        </p:nvSpPr>
        <p:spPr>
          <a:xfrm>
            <a:off x="6583680" y="5166360"/>
            <a:ext cx="5056632" cy="822960"/>
          </a:xfrm>
          <a:prstGeom prst="roundRect">
            <a:avLst>
              <a:gd name="adj" fmla="val 8000"/>
            </a:avLst>
          </a:prstGeom>
          <a:solidFill>
            <a:srgbClr val="F5F3FF"/>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l"/>
            <a:r>
              <a:rPr sz="1200" b="1">
                <a:solidFill>
                  <a:srgbClr val="161A3E"/>
                </a:solidFill>
                <a:latin typeface="Calibri"/>
              </a:rPr>
              <a:t>An additional layer: </a:t>
            </a:r>
            <a:r>
              <a:rPr sz="1200" b="0">
                <a:solidFill>
                  <a:srgbClr val="161A3E"/>
                </a:solidFill>
                <a:latin typeface="Calibri"/>
              </a:rPr>
              <a:t>the ML prediction stays the source of truth; the AI components add research context and explanation.</a:t>
            </a:r>
          </a:p>
        </p:txBody>
      </p:sp>
      <p:sp>
        <p:nvSpPr>
          <p:cNvPr id="28" name="TextBox 27"/>
          <p:cNvSpPr txBox="1"/>
          <p:nvPr/>
        </p:nvSpPr>
        <p:spPr>
          <a:xfrm>
            <a:off x="548640" y="6035040"/>
            <a:ext cx="10972800" cy="228600"/>
          </a:xfrm>
          <a:prstGeom prst="rect">
            <a:avLst/>
          </a:prstGeom>
          <a:noFill/>
        </p:spPr>
        <p:txBody>
          <a:bodyPr wrap="square" lIns="0" rIns="0" tIns="36576" bIns="36576" anchor="t">
            <a:normAutofit/>
          </a:bodyPr>
          <a:lstStyle/>
          <a:p>
            <a:pPr algn="l"/>
            <a:r>
              <a:rPr sz="900" b="0">
                <a:solidFill>
                  <a:srgbClr val="94A3B8"/>
                </a:solidFill>
                <a:latin typeface="Calibri"/>
              </a:rPr>
              <a:t>Source: docs/PRE_RELEASE_MODEL.md (held-out test, Random Forest · class weights); screenshots from docs/screenshots in the repository.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11064240" cy="640080"/>
          </a:xfrm>
        </p:spPr>
        <p:txBody>
          <a:bodyPr/>
          <a:lstStyle/>
          <a:p>
            <a:r>
              <a:rPr sz="2600" b="1">
                <a:latin typeface="Calibri"/>
              </a:rPr>
              <a:t>Conclusion, Limitations &amp; Future Scope</a:t>
            </a:r>
          </a:p>
        </p:txBody>
      </p:sp>
      <p:sp>
        <p:nvSpPr>
          <p:cNvPr id="3" name="TextBox 2"/>
          <p:cNvSpPr txBox="1"/>
          <p:nvPr/>
        </p:nvSpPr>
        <p:spPr>
          <a:xfrm>
            <a:off x="548640" y="256032"/>
            <a:ext cx="7315200" cy="274320"/>
          </a:xfrm>
          <a:prstGeom prst="rect">
            <a:avLst/>
          </a:prstGeom>
          <a:noFill/>
        </p:spPr>
        <p:txBody>
          <a:bodyPr wrap="square" lIns="0" rIns="0" tIns="36576" bIns="36576" anchor="t">
            <a:normAutofit/>
          </a:bodyPr>
          <a:lstStyle/>
          <a:p>
            <a:pPr algn="l"/>
            <a:r>
              <a:rPr sz="1100" b="1">
                <a:solidFill>
                  <a:srgbClr val="3B82F6"/>
                </a:solidFill>
                <a:latin typeface="Calibri"/>
              </a:rPr>
              <a:t>09 · CONCLUSION</a:t>
            </a:r>
          </a:p>
        </p:txBody>
      </p:sp>
      <p:sp>
        <p:nvSpPr>
          <p:cNvPr id="4" name="Rounded Rectangle 3"/>
          <p:cNvSpPr/>
          <p:nvPr/>
        </p:nvSpPr>
        <p:spPr>
          <a:xfrm>
            <a:off x="548640" y="1325880"/>
            <a:ext cx="3520440" cy="4069080"/>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25880"/>
            <a:ext cx="3520440" cy="548640"/>
          </a:xfrm>
          <a:prstGeom prst="roundRect">
            <a:avLst>
              <a:gd name="adj" fmla="val 15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rmAutofit/>
          </a:bodyPr>
          <a:lstStyle/>
          <a:p>
            <a:pPr algn="l"/>
            <a:r>
              <a:rPr sz="1700" b="1">
                <a:solidFill>
                  <a:srgbClr val="FFFFFF"/>
                </a:solidFill>
                <a:latin typeface="Calibri"/>
              </a:rPr>
              <a:t>What we built</a:t>
            </a:r>
          </a:p>
        </p:txBody>
      </p:sp>
      <p:sp>
        <p:nvSpPr>
          <p:cNvPr id="6" name="TextBox 5"/>
          <p:cNvSpPr txBox="1"/>
          <p:nvPr/>
        </p:nvSpPr>
        <p:spPr>
          <a:xfrm>
            <a:off x="731520" y="2011680"/>
            <a:ext cx="3200400" cy="3291840"/>
          </a:xfrm>
          <a:prstGeom prst="rect">
            <a:avLst/>
          </a:prstGeom>
          <a:noFill/>
        </p:spPr>
        <p:txBody>
          <a:bodyPr wrap="square" lIns="73152" rIns="73152" tIns="36576" bIns="36576" anchor="t">
            <a:normAutofit/>
          </a:bodyPr>
          <a:lstStyle/>
          <a:p>
            <a:pPr algn="l" marL="200000" indent="-200000">
              <a:spcAft>
                <a:spcPts val="1000"/>
              </a:spcAft>
              <a:buChar char="•"/>
            </a:pPr>
            <a:r>
              <a:rPr sz="1500" b="0">
                <a:solidFill>
                  <a:srgbClr val="161A3E"/>
                </a:solidFill>
                <a:latin typeface="Calibri"/>
              </a:rPr>
              <a:t>Pre-release classification pipeline with no post-release leakage</a:t>
            </a:r>
          </a:p>
          <a:p>
            <a:pPr algn="l" marL="200000" indent="-200000">
              <a:spcAft>
                <a:spcPts val="1000"/>
              </a:spcAft>
              <a:buChar char="•"/>
            </a:pPr>
            <a:r>
              <a:rPr sz="1500" b="0">
                <a:solidFill>
                  <a:srgbClr val="161A3E"/>
                </a:solidFill>
                <a:latin typeface="Calibri"/>
              </a:rPr>
              <a:t>14 algorithms and 42 imbalance configurations compared</a:t>
            </a:r>
          </a:p>
          <a:p>
            <a:pPr algn="l" marL="200000" indent="-200000">
              <a:spcAft>
                <a:spcPts val="1000"/>
              </a:spcAft>
              <a:buChar char="•"/>
            </a:pPr>
            <a:r>
              <a:rPr sz="1500" b="0">
                <a:solidFill>
                  <a:srgbClr val="161A3E"/>
                </a:solidFill>
                <a:latin typeface="Calibri"/>
              </a:rPr>
              <a:t>Random Forest chosen by a pre-declared selection rule</a:t>
            </a:r>
          </a:p>
          <a:p>
            <a:pPr algn="l" marL="200000" indent="-200000">
              <a:spcAft>
                <a:spcPts val="1000"/>
              </a:spcAft>
              <a:buChar char="•"/>
            </a:pPr>
            <a:r>
              <a:rPr sz="1500" b="0">
                <a:solidFill>
                  <a:srgbClr val="161A3E"/>
                </a:solidFill>
                <a:latin typeface="Calibri"/>
              </a:rPr>
              <a:t>ML prediction served through an interactive app</a:t>
            </a:r>
          </a:p>
          <a:p>
            <a:pPr algn="l" marL="200000" indent="-200000">
              <a:spcAft>
                <a:spcPts val="1000"/>
              </a:spcAft>
              <a:buChar char="•"/>
            </a:pPr>
            <a:r>
              <a:rPr sz="1500" b="0">
                <a:solidFill>
                  <a:srgbClr val="161A3E"/>
                </a:solidFill>
                <a:latin typeface="Calibri"/>
              </a:rPr>
              <a:t>Agentic AI research and assistant layer added on top</a:t>
            </a:r>
          </a:p>
        </p:txBody>
      </p:sp>
      <p:sp>
        <p:nvSpPr>
          <p:cNvPr id="7" name="Rounded Rectangle 6"/>
          <p:cNvSpPr/>
          <p:nvPr/>
        </p:nvSpPr>
        <p:spPr>
          <a:xfrm>
            <a:off x="4334255" y="1325880"/>
            <a:ext cx="3520440" cy="4069080"/>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34255" y="1325880"/>
            <a:ext cx="3520440" cy="548640"/>
          </a:xfrm>
          <a:prstGeom prst="roundRect">
            <a:avLst>
              <a:gd name="adj" fmla="val 1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rmAutofit/>
          </a:bodyPr>
          <a:lstStyle/>
          <a:p>
            <a:pPr algn="l"/>
            <a:r>
              <a:rPr sz="1700" b="1">
                <a:solidFill>
                  <a:srgbClr val="101827"/>
                </a:solidFill>
                <a:latin typeface="Calibri"/>
              </a:rPr>
              <a:t>Limitations</a:t>
            </a:r>
          </a:p>
        </p:txBody>
      </p:sp>
      <p:sp>
        <p:nvSpPr>
          <p:cNvPr id="9" name="TextBox 8"/>
          <p:cNvSpPr txBox="1"/>
          <p:nvPr/>
        </p:nvSpPr>
        <p:spPr>
          <a:xfrm>
            <a:off x="4517136" y="2011680"/>
            <a:ext cx="3200400" cy="3291840"/>
          </a:xfrm>
          <a:prstGeom prst="rect">
            <a:avLst/>
          </a:prstGeom>
          <a:noFill/>
        </p:spPr>
        <p:txBody>
          <a:bodyPr wrap="square" lIns="73152" rIns="73152" tIns="36576" bIns="36576" anchor="t">
            <a:normAutofit/>
          </a:bodyPr>
          <a:lstStyle/>
          <a:p>
            <a:pPr algn="l" marL="200000" indent="-200000">
              <a:spcAft>
                <a:spcPts val="1000"/>
              </a:spcAft>
              <a:buChar char="•"/>
            </a:pPr>
            <a:r>
              <a:rPr sz="1500" b="0">
                <a:solidFill>
                  <a:srgbClr val="161A3E"/>
                </a:solidFill>
                <a:latin typeface="Calibri"/>
              </a:rPr>
              <a:t>Highly imbalanced classes</a:t>
            </a:r>
          </a:p>
          <a:p>
            <a:pPr algn="l" marL="200000" indent="-200000">
              <a:spcAft>
                <a:spcPts val="1000"/>
              </a:spcAft>
              <a:buChar char="•"/>
            </a:pPr>
            <a:r>
              <a:rPr sz="1500" b="0">
                <a:solidFill>
                  <a:srgbClr val="161A3E"/>
                </a:solidFill>
                <a:latin typeface="Calibri"/>
              </a:rPr>
              <a:t>Only 41 Flops; 8 in the test set</a:t>
            </a:r>
          </a:p>
          <a:p>
            <a:pPr algn="l" marL="200000" indent="-200000">
              <a:spcAft>
                <a:spcPts val="1000"/>
              </a:spcAft>
              <a:buChar char="•"/>
            </a:pPr>
            <a:r>
              <a:rPr sz="1500" b="0">
                <a:solidFill>
                  <a:srgbClr val="161A3E"/>
                </a:solidFill>
                <a:latin typeface="Calibri"/>
              </a:rPr>
              <a:t>IMDb rating bands are not commercial success</a:t>
            </a:r>
          </a:p>
          <a:p>
            <a:pPr algn="l" marL="200000" indent="-200000">
              <a:spcAft>
                <a:spcPts val="1000"/>
              </a:spcAft>
              <a:buChar char="•"/>
            </a:pPr>
            <a:r>
              <a:rPr sz="1500" b="0">
                <a:solidFill>
                  <a:srgbClr val="161A3E"/>
                </a:solidFill>
                <a:latin typeface="Calibri"/>
              </a:rPr>
              <a:t>Finalists are statistically tied</a:t>
            </a:r>
          </a:p>
          <a:p>
            <a:pPr algn="l" marL="200000" indent="-200000">
              <a:spcAft>
                <a:spcPts val="1000"/>
              </a:spcAft>
              <a:buChar char="•"/>
            </a:pPr>
            <a:r>
              <a:rPr sz="1500" b="0">
                <a:solidFill>
                  <a:srgbClr val="161A3E"/>
                </a:solidFill>
                <a:latin typeface="Calibri"/>
              </a:rPr>
              <a:t>Predictions are estimates, not guarantees</a:t>
            </a:r>
          </a:p>
        </p:txBody>
      </p:sp>
      <p:sp>
        <p:nvSpPr>
          <p:cNvPr id="10" name="Rounded Rectangle 9"/>
          <p:cNvSpPr/>
          <p:nvPr/>
        </p:nvSpPr>
        <p:spPr>
          <a:xfrm>
            <a:off x="8119871" y="1325880"/>
            <a:ext cx="3520440" cy="4069080"/>
          </a:xfrm>
          <a:prstGeom prst="roundRect">
            <a:avLst>
              <a:gd name="adj" fmla="val 6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19871" y="1325880"/>
            <a:ext cx="3520440" cy="548640"/>
          </a:xfrm>
          <a:prstGeom prst="roundRect">
            <a:avLst>
              <a:gd name="adj" fmla="val 15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rmAutofit/>
          </a:bodyPr>
          <a:lstStyle/>
          <a:p>
            <a:pPr algn="l"/>
            <a:r>
              <a:rPr sz="1700" b="1">
                <a:solidFill>
                  <a:srgbClr val="101827"/>
                </a:solidFill>
                <a:latin typeface="Calibri"/>
              </a:rPr>
              <a:t>Future scope</a:t>
            </a:r>
          </a:p>
        </p:txBody>
      </p:sp>
      <p:sp>
        <p:nvSpPr>
          <p:cNvPr id="12" name="TextBox 11"/>
          <p:cNvSpPr txBox="1"/>
          <p:nvPr/>
        </p:nvSpPr>
        <p:spPr>
          <a:xfrm>
            <a:off x="8302751" y="2011680"/>
            <a:ext cx="3200400" cy="3291840"/>
          </a:xfrm>
          <a:prstGeom prst="rect">
            <a:avLst/>
          </a:prstGeom>
          <a:noFill/>
        </p:spPr>
        <p:txBody>
          <a:bodyPr wrap="square" lIns="73152" rIns="73152" tIns="36576" bIns="36576" anchor="t">
            <a:normAutofit/>
          </a:bodyPr>
          <a:lstStyle/>
          <a:p>
            <a:pPr algn="l" marL="200000" indent="-200000">
              <a:spcAft>
                <a:spcPts val="1000"/>
              </a:spcAft>
              <a:buChar char="•"/>
            </a:pPr>
            <a:r>
              <a:rPr sz="1500" b="0">
                <a:solidFill>
                  <a:srgbClr val="161A3E"/>
                </a:solidFill>
                <a:latin typeface="Calibri"/>
              </a:rPr>
              <a:t>Improve minority-class (Flop) prediction</a:t>
            </a:r>
          </a:p>
          <a:p>
            <a:pPr algn="l" marL="200000" indent="-200000">
              <a:spcAft>
                <a:spcPts val="1000"/>
              </a:spcAft>
              <a:buChar char="•"/>
            </a:pPr>
            <a:r>
              <a:rPr sz="1500" b="0">
                <a:solidFill>
                  <a:srgbClr val="161A3E"/>
                </a:solidFill>
                <a:latin typeface="Calibri"/>
              </a:rPr>
              <a:t>Explore more reliable pre-release features</a:t>
            </a:r>
          </a:p>
          <a:p>
            <a:pPr algn="l" marL="200000" indent="-200000">
              <a:spcAft>
                <a:spcPts val="1000"/>
              </a:spcAft>
              <a:buChar char="•"/>
            </a:pPr>
            <a:r>
              <a:rPr sz="1500" b="0">
                <a:solidFill>
                  <a:srgbClr val="161A3E"/>
                </a:solidFill>
                <a:latin typeface="Calibri"/>
              </a:rPr>
              <a:t>Improve generalisation to newer films</a:t>
            </a:r>
          </a:p>
          <a:p>
            <a:pPr algn="l" marL="200000" indent="-200000">
              <a:spcAft>
                <a:spcPts val="1000"/>
              </a:spcAft>
              <a:buChar char="•"/>
            </a:pPr>
            <a:r>
              <a:rPr sz="1500" b="0">
                <a:solidFill>
                  <a:srgbClr val="161A3E"/>
                </a:solidFill>
                <a:latin typeface="Calibri"/>
              </a:rPr>
              <a:t>Expand movie research capabilities</a:t>
            </a:r>
          </a:p>
        </p:txBody>
      </p:sp>
      <p:sp>
        <p:nvSpPr>
          <p:cNvPr id="13" name="Rounded Rectangle 12"/>
          <p:cNvSpPr/>
          <p:nvPr/>
        </p:nvSpPr>
        <p:spPr>
          <a:xfrm>
            <a:off x="548640" y="5532120"/>
            <a:ext cx="11091672" cy="457200"/>
          </a:xfrm>
          <a:prstGeom prst="roundRect">
            <a:avLst>
              <a:gd name="adj" fmla="val 20000"/>
            </a:avLst>
          </a:prstGeom>
          <a:solidFill>
            <a:srgbClr val="10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300" b="1">
                <a:solidFill>
                  <a:srgbClr val="FFFFFF"/>
                </a:solidFill>
                <a:latin typeface="Calibri"/>
              </a:rPr>
              <a:t>From movie data to intelligent insights: a modest but honest pre-release signal, extended by agentic research.</a:t>
            </a:r>
          </a:p>
        </p:txBody>
      </p:sp>
    </p:spTree>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468880"/>
            <a:ext cx="12192000" cy="26517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73152" rIns="73152" tIns="36576" bIns="36576">
            <a:normAutofit/>
          </a:bodyPr>
          <a:lstStyle/>
          <a:p>
            <a:pPr algn="ctr">
              <a:spcAft>
                <a:spcPts val="0"/>
              </a:spcAft>
            </a:pPr>
            <a:r>
              <a:rPr sz="3400" b="1">
                <a:solidFill>
                  <a:srgbClr val="FFFFFF"/>
                </a:solidFill>
                <a:latin typeface="Calibri"/>
              </a:rPr>
              <a:t>MOVIE SUCCESS PREDICTION</a:t>
            </a:r>
          </a:p>
          <a:p>
            <a:pPr algn="ctr">
              <a:spcAft>
                <a:spcPts val="1000"/>
              </a:spcAft>
            </a:pPr>
            <a:r>
              <a:rPr sz="3400" b="1">
                <a:solidFill>
                  <a:srgbClr val="FFFFFF"/>
                </a:solidFill>
                <a:latin typeface="Calibri"/>
              </a:rPr>
              <a:t>USING MACHINE LEARNING AND AI</a:t>
            </a:r>
          </a:p>
          <a:p>
            <a:pPr algn="ctr">
              <a:spcAft>
                <a:spcPts val="1400"/>
              </a:spcAft>
            </a:pPr>
            <a:r>
              <a:rPr sz="2000" b="0">
                <a:solidFill>
                  <a:srgbClr val="22D3EE"/>
                </a:solidFill>
                <a:latin typeface="Calibri"/>
              </a:rPr>
              <a:t>An Intelligent Framework for Movie Classification and Research</a:t>
            </a:r>
          </a:p>
          <a:p>
            <a:pPr algn="ctr"/>
            <a:r>
              <a:rPr sz="1800" b="1">
                <a:solidFill>
                  <a:srgbClr val="FFFFFF"/>
                </a:solidFill>
                <a:latin typeface="Calibri"/>
              </a:rPr>
              <a:t>Presented by: Darsan IS</a:t>
            </a:r>
          </a:p>
          <a:p>
            <a:pPr algn="ctr"/>
            <a:r>
              <a:rPr sz="1400" b="0">
                <a:solidFill>
                  <a:srgbClr val="CBD5E1"/>
                </a:solidFill>
                <a:latin typeface="Calibri"/>
              </a:rPr>
              <a:t>Capstone Project  ·  Boston Institute of Analytics</a:t>
            </a:r>
          </a:p>
        </p:txBody>
      </p:sp>
    </p:spTree>
    <p:extLst>
      <p:ext uri="{BB962C8B-B14F-4D97-AF65-F5344CB8AC3E}">
        <p14:creationId xmlns:p14="http://schemas.microsoft.com/office/powerpoint/2010/main" val="1024334718"/>
      </p:ext>
    </p:extLst>
  </p:cSld>
  <p:clrMapOvr>
    <a:masterClrMapping/>
  </p:clrMapOvr>
</p:sld>
</file>

<file path=ppt/slides/slide9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a:p>
            <a:pPr algn="ctr"/>
            <a:r>
              <a:rPr sz="2800" b="1">
                <a:solidFill>
                  <a:srgbClr val="22D3EE"/>
                </a:solidFill>
              </a:rPr>
              <a:t>QUESTIONS?</a:t>
            </a: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6896</TotalTime>
  <Words>30</Words>
  <Application>Microsoft Office PowerPoint</Application>
  <PresentationFormat>Widescreen</PresentationFormat>
  <Paragraphs>13</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BIA Template</vt:lpstr>
      <vt:lpstr>PowerPoint Presentation</vt:lpstr>
      <vt:lpstr>Agenda</vt:lpstr>
      <vt:lpstr>Title</vt:lpstr>
      <vt:lpstr>PowerPoint Presentation</vt:lpstr>
      <vt:lpstr>PowerPoint Presentation</vt:lpstr>
      <vt:lpstr>Title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2254</cp:revision>
  <dcterms:created xsi:type="dcterms:W3CDTF">2020-12-23T13:36:00Z</dcterms:created>
  <dcterms:modified xsi:type="dcterms:W3CDTF">2026-10-30T15:44:56Z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